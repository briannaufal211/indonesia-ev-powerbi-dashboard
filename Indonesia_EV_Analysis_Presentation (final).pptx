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7" r:id="rId10"/>
    <p:sldId id="265" r:id="rId11"/>
    <p:sldId id="266" r:id="rId12"/>
    <p:sldId id="268" r:id="rId13"/>
    <p:sldId id="269" r:id="rId14"/>
    <p:sldId id="270"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43" autoAdjust="0"/>
  </p:normalViewPr>
  <p:slideViewPr>
    <p:cSldViewPr snapToGrid="0" snapToObjects="1">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32720"/>
                </a:solidFill>
                <a:latin typeface="Calibri"/>
              </a:defRPr>
            </a:pPr>
            <a:r>
              <a:rPr lang="en-ID" sz="1250" b="0" i="0" u="none" strike="noStrike">
                <a:solidFill>
                  <a:srgbClr val="132720"/>
                </a:solidFill>
                <a:latin typeface="Calibri"/>
              </a:rPr>
              <a:t>Price Segment Distribution</a:t>
            </a:r>
          </a:p>
        </c:rich>
      </c:tx>
      <c:overlay val="0"/>
    </c:title>
    <c:autoTitleDeleted val="0"/>
    <c:plotArea>
      <c:layout/>
      <c:barChart>
        <c:barDir val="col"/>
        <c:grouping val="clustered"/>
        <c:varyColors val="0"/>
        <c:ser>
          <c:idx val="0"/>
          <c:order val="0"/>
          <c:tx>
            <c:strRef>
              <c:f>Sheet1!$B$1</c:f>
              <c:strCache>
                <c:ptCount val="1"/>
                <c:pt idx="0">
                  <c:v>EV Models (of 48 validly priced)</c:v>
                </c:pt>
              </c:strCache>
            </c:strRef>
          </c:tx>
          <c:spPr>
            <a:solidFill>
              <a:srgbClr val="1F7A6C"/>
            </a:solidFill>
            <a:effectLst/>
          </c:spPr>
          <c:invertIfNegative val="0"/>
          <c:dLbls>
            <c:numFmt formatCode="#,##0" sourceLinked="0"/>
            <c:spPr>
              <a:noFill/>
              <a:ln>
                <a:noFill/>
              </a:ln>
              <a:effectLst/>
            </c:spPr>
            <c:txPr>
              <a:bodyPr/>
              <a:lstStyle/>
              <a:p>
                <a:pPr>
                  <a:defRPr sz="1100" b="0" i="0" u="none" strike="noStrike">
                    <a:solidFill>
                      <a:srgbClr val="1327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Entry (&lt;300M)</c:v>
                </c:pt>
                <c:pt idx="1">
                  <c:v>Mid (300–600M)</c:v>
                </c:pt>
                <c:pt idx="2">
                  <c:v>Premium (&gt;600M)</c:v>
                </c:pt>
              </c:strCache>
            </c:strRef>
          </c:cat>
          <c:val>
            <c:numRef>
              <c:f>Sheet1!$B$2:$B$4</c:f>
              <c:numCache>
                <c:formatCode>General</c:formatCode>
                <c:ptCount val="3"/>
                <c:pt idx="0">
                  <c:v>4</c:v>
                </c:pt>
                <c:pt idx="1">
                  <c:v>21</c:v>
                </c:pt>
                <c:pt idx="2">
                  <c:v>23</c:v>
                </c:pt>
              </c:numCache>
            </c:numRef>
          </c:val>
          <c:extLst>
            <c:ext xmlns:c16="http://schemas.microsoft.com/office/drawing/2014/chart" uri="{C3380CC4-5D6E-409C-BE32-E72D297353CC}">
              <c16:uniqueId val="{00000000-B453-4625-88D0-8960CF8D132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B6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8E4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6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32720"/>
                </a:solidFill>
                <a:latin typeface="Calibri"/>
              </a:defRPr>
            </a:pPr>
            <a:r>
              <a:rPr lang="en-US" sz="1250" b="0" i="0" u="none" strike="noStrike">
                <a:solidFill>
                  <a:srgbClr val="132720"/>
                </a:solidFill>
                <a:latin typeface="Calibri"/>
              </a:rPr>
              <a:t>Top 5 Best Value for Money EVs</a:t>
            </a:r>
          </a:p>
        </c:rich>
      </c:tx>
      <c:overlay val="0"/>
    </c:title>
    <c:autoTitleDeleted val="0"/>
    <c:plotArea>
      <c:layout/>
      <c:barChart>
        <c:barDir val="bar"/>
        <c:grouping val="clustered"/>
        <c:varyColors val="0"/>
        <c:ser>
          <c:idx val="0"/>
          <c:order val="0"/>
          <c:tx>
            <c:strRef>
              <c:f>Sheet1!$B$1</c:f>
              <c:strCache>
                <c:ptCount val="1"/>
                <c:pt idx="0">
                  <c:v>Value Score (Range per IDR Juta)</c:v>
                </c:pt>
              </c:strCache>
            </c:strRef>
          </c:tx>
          <c:spPr>
            <a:solidFill>
              <a:srgbClr val="0E3B2E"/>
            </a:solidFill>
            <a:effectLst/>
          </c:spPr>
          <c:invertIfNegative val="0"/>
          <c:dLbls>
            <c:numFmt formatCode="0.00" sourceLinked="0"/>
            <c:spPr>
              <a:noFill/>
              <a:ln>
                <a:noFill/>
              </a:ln>
              <a:effectLst/>
            </c:spPr>
            <c:txPr>
              <a:bodyPr/>
              <a:lstStyle/>
              <a:p>
                <a:pPr>
                  <a:defRPr sz="1050" b="0" i="0" u="none" strike="noStrike">
                    <a:solidFill>
                      <a:srgbClr val="1327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Changan Lumin</c:v>
                </c:pt>
                <c:pt idx="1">
                  <c:v>Neta V-II</c:v>
                </c:pt>
                <c:pt idx="2">
                  <c:v>Wuling Binguo EV</c:v>
                </c:pt>
                <c:pt idx="3">
                  <c:v>BYD M6</c:v>
                </c:pt>
                <c:pt idx="4">
                  <c:v>BYD Dolphin</c:v>
                </c:pt>
              </c:strCache>
            </c:strRef>
          </c:cat>
          <c:val>
            <c:numRef>
              <c:f>Sheet1!$B$2:$B$6</c:f>
              <c:numCache>
                <c:formatCode>General</c:formatCode>
                <c:ptCount val="5"/>
                <c:pt idx="0">
                  <c:v>1.69</c:v>
                </c:pt>
                <c:pt idx="1">
                  <c:v>1.34</c:v>
                </c:pt>
                <c:pt idx="2">
                  <c:v>1.22</c:v>
                </c:pt>
                <c:pt idx="3">
                  <c:v>1.1599999999999999</c:v>
                </c:pt>
                <c:pt idx="4">
                  <c:v>1.1299999999999999</c:v>
                </c:pt>
              </c:numCache>
            </c:numRef>
          </c:val>
          <c:extLst>
            <c:ext xmlns:c16="http://schemas.microsoft.com/office/drawing/2014/chart" uri="{C3380CC4-5D6E-409C-BE32-E72D297353CC}">
              <c16:uniqueId val="{00000000-B378-4C15-A691-16163EDBF7E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B6B6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D8E4D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6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132720"/>
                </a:solidFill>
                <a:latin typeface="Calibri"/>
              </a:defRPr>
            </a:pPr>
            <a:r>
              <a:rPr lang="en-US" sz="1150" b="0" i="0" u="none" strike="noStrike">
                <a:solidFill>
                  <a:srgbClr val="132720"/>
                </a:solidFill>
                <a:latin typeface="Calibri"/>
              </a:rPr>
              <a:t>EV Count as Budget Increases</a:t>
            </a:r>
          </a:p>
        </c:rich>
      </c:tx>
      <c:overlay val="0"/>
    </c:title>
    <c:autoTitleDeleted val="0"/>
    <c:plotArea>
      <c:layout/>
      <c:barChart>
        <c:barDir val="col"/>
        <c:grouping val="clustered"/>
        <c:varyColors val="0"/>
        <c:ser>
          <c:idx val="0"/>
          <c:order val="0"/>
          <c:tx>
            <c:strRef>
              <c:f>Sheet1!$B$1</c:f>
              <c:strCache>
                <c:ptCount val="1"/>
                <c:pt idx="0">
                  <c:v>EV Models Within Budget</c:v>
                </c:pt>
              </c:strCache>
            </c:strRef>
          </c:tx>
          <c:spPr>
            <a:solidFill>
              <a:srgbClr val="1F7A6C"/>
            </a:solidFill>
            <a:effectLst/>
          </c:spPr>
          <c:invertIfNegative val="0"/>
          <c:dLbls>
            <c:numFmt formatCode="#,##0" sourceLinked="0"/>
            <c:spPr>
              <a:noFill/>
              <a:ln>
                <a:noFill/>
              </a:ln>
              <a:effectLst/>
            </c:spPr>
            <c:txPr>
              <a:bodyPr/>
              <a:lstStyle/>
              <a:p>
                <a:pPr>
                  <a:defRPr sz="105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300 Juta</c:v>
                </c:pt>
                <c:pt idx="1">
                  <c:v>500 Juta</c:v>
                </c:pt>
                <c:pt idx="2">
                  <c:v>800 Juta</c:v>
                </c:pt>
              </c:strCache>
            </c:strRef>
          </c:cat>
          <c:val>
            <c:numRef>
              <c:f>Sheet1!$B$2:$B$4</c:f>
              <c:numCache>
                <c:formatCode>General</c:formatCode>
                <c:ptCount val="3"/>
                <c:pt idx="0">
                  <c:v>4</c:v>
                </c:pt>
                <c:pt idx="1">
                  <c:v>23</c:v>
                </c:pt>
                <c:pt idx="2">
                  <c:v>32</c:v>
                </c:pt>
              </c:numCache>
            </c:numRef>
          </c:val>
          <c:extLst>
            <c:ext xmlns:c16="http://schemas.microsoft.com/office/drawing/2014/chart" uri="{C3380CC4-5D6E-409C-BE32-E72D297353CC}">
              <c16:uniqueId val="{00000000-56A2-4A14-B5B8-3510EBE1F32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6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8E4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5B6B6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132720"/>
                </a:solidFill>
                <a:latin typeface="Calibri"/>
              </a:defRPr>
            </a:pPr>
            <a:r>
              <a:rPr lang="en-US" sz="1150" b="0" i="0" u="none" strike="noStrike">
                <a:solidFill>
                  <a:srgbClr val="132720"/>
                </a:solidFill>
                <a:latin typeface="Calibri"/>
              </a:rPr>
              <a:t>Avg. Range (km) as Budget Increases</a:t>
            </a:r>
          </a:p>
        </c:rich>
      </c:tx>
      <c:overlay val="0"/>
    </c:title>
    <c:autoTitleDeleted val="0"/>
    <c:plotArea>
      <c:layout/>
      <c:barChart>
        <c:barDir val="col"/>
        <c:grouping val="clustered"/>
        <c:varyColors val="0"/>
        <c:ser>
          <c:idx val="0"/>
          <c:order val="0"/>
          <c:tx>
            <c:strRef>
              <c:f>Sheet1!$B$1</c:f>
              <c:strCache>
                <c:ptCount val="1"/>
                <c:pt idx="0">
                  <c:v>Avg. Driving Range (km)</c:v>
                </c:pt>
              </c:strCache>
            </c:strRef>
          </c:tx>
          <c:spPr>
            <a:solidFill>
              <a:srgbClr val="0E3B2E"/>
            </a:solidFill>
            <a:effectLst/>
          </c:spPr>
          <c:invertIfNegative val="0"/>
          <c:dLbls>
            <c:numFmt formatCode="#,##0" sourceLinked="0"/>
            <c:spPr>
              <a:noFill/>
              <a:ln>
                <a:noFill/>
              </a:ln>
              <a:effectLst/>
            </c:spPr>
            <c:txPr>
              <a:bodyPr/>
              <a:lstStyle/>
              <a:p>
                <a:pPr>
                  <a:defRPr sz="105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300 Juta</c:v>
                </c:pt>
                <c:pt idx="1">
                  <c:v>500 Juta</c:v>
                </c:pt>
                <c:pt idx="2">
                  <c:v>800 Juta</c:v>
                </c:pt>
              </c:strCache>
            </c:strRef>
          </c:cat>
          <c:val>
            <c:numRef>
              <c:f>Sheet1!$B$2:$B$4</c:f>
              <c:numCache>
                <c:formatCode>General</c:formatCode>
                <c:ptCount val="3"/>
                <c:pt idx="0">
                  <c:v>288</c:v>
                </c:pt>
                <c:pt idx="1">
                  <c:v>369</c:v>
                </c:pt>
                <c:pt idx="2">
                  <c:v>387</c:v>
                </c:pt>
              </c:numCache>
            </c:numRef>
          </c:val>
          <c:extLst>
            <c:ext xmlns:c16="http://schemas.microsoft.com/office/drawing/2014/chart" uri="{C3380CC4-5D6E-409C-BE32-E72D297353CC}">
              <c16:uniqueId val="{00000000-EEE5-4A42-B776-60A2F985C99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6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8E4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5B6B6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3700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Introduce yourself as a Data Analyst and frame this as an end-to-end BI project: from raw, messy EV specification data to an interactive decision-support dashboard built in Power BI. Keep this to ~20 seconds — name, role, and one line: 'I analyzed 60 EV models sold in the Indonesian market to help buyers and stakeholders compare price, performance and value.' Replace [Your Name]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raw EV specs are too fragmented for stakeholders to compare confidently. Walk through the 3 problem cards briefly, then land on the business question banner — this is the single question the rest of the deck (and dashboard) answers. Observation vs interpretation: the fragmentation is an observed data condition; 'hard to compare' and 'guesswork' are the interpreted business pain points.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dashboard as an answer engine: each analytical question routes to a specific page. This slide sets audience expectations for what they'll see in slides 5–8, mirroring the dashboard's own navigation.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60 EV models scraped/compiled with 8 core attributes. Walk the workflow top to bottom — emphasize Data Validation as the step that caught the price issue. On the flagged-price callout: be precise — 12 of 60 models (20%) have a placeholder price value (29.1 Juta, identical across all 12), so they were excluded ONLY from price/value/budget analysis. Their range and battery specs remained valid and reusable, which is why 2 of them still appear later in the Top-5 Longest Range ranking (slide 7).</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the actual Executive Overview screenshot in the placeholder before presenting. Use the numbered legend to orient the audience quickly instead of narrating every visual. All three takeaways are grounded in the dataset: 60 models / 30 brands / 48 validly priced; avg range 449 km, avg battery 66 kWh (unfiltered, all 60 models); Changan Lumin (Value Score 1.69) vs Mercedes-Benz EQS (770 km range) as the two 'winners' of different rankings — a good hook for 'best value ≠ best spec'.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'What does the EV market landscape look like?' All figures are computed directly from the dataset (48 models with validated pricing; segment thresholds: Entry &lt;300M, Mid 300–600M, Premium &gt;600M IDR Juta). Charging time distribution is computed across all 60 models (charging time isn't affected by the price flag). Emphasize the 'so what': premium skew = market entry opportunity for affordable EVs; wide charging spread = a real product differentiator.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come directly from the EV_Data table: Changan Lumin (Value Score 1.69, price 178, range 301) is the top Value Score in the full 60-row dataset; Mercedes-Benz EQS (770 km) is the longest range. Power-vs-range Pearson correlation computed across all 60 models = 0.68. The data-quality note is important — it shows you handle imperfect data honestly rather than silently dropping flagged rows from every chart.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simulator uses a Power BI What-if Parameter to drive three linked measures dynamically. Numbers shown (300/500/800 Juta → 4/23/32 eligible models; avg range 288/369/387 km) are computed directly from the dataset using the same filter logic as the dashboard's DAX measures, so they'll match what the audience sees live. This is one of the strongest slides for a hiring manager — it shows you can translate an interactive feature into a clear, quantified business insight instead of just describing the UI.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intentionally structured to match the dashboard's own Business Insights page — same 4 categories, same order — so the audience recognizes it immediately when you switch to the live dashboard. Data-integrity note for presenter: the live dashboard's 'Portfolio Position' card currently displays '48 of 48 models' due to a DAX context bug in the Dominant Segment Count measure (an explicit CALCULATE filter on Price Segment overrides the row-context filter from the iterator, so every segment counts all 48 valid rows instead of just its own). This deck uses the statistically correct figure (23 of 48, 48%) instead — recommend fixing the measure before your next dashboard demo. Similarly, 'Charging Landscape' correctly shows no single fastest model because 5 vehicles tie at 15 minutes — SELECTEDVALUE returns blank on ties, which is why the live dashboard's fastest-model name appears empty. That is expected behavior, not a bug.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recommendation traces back to a specific finding: Entry-segment scarcity (4 of 48 models) → manufacturer whitespace; Power-Range correlation (r=0.68) → performance-tier KPI; the 12 flagged prices → data governance recommendation; budget non-linearity → segmentation strategy. Present column by column, audience by audience — recruiters and hiring managers respond well to seeing you translate analysis into role-specific action, not just charts.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flow diagram: Market understanding → Vehicle comparison → Budget simulation → Decision support — this mirrors the four dashboard pages and the four analytical questions from slide 3, giving the deck a clean full-circle structure. End with the closing statement and your contact details. Replace the bracketed placeholders before sending/presenting.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2E"/>
        </a:solidFill>
        <a:effectLst/>
      </p:bgPr>
    </p:bg>
    <p:spTree>
      <p:nvGrpSpPr>
        <p:cNvPr id="1" name=""/>
        <p:cNvGrpSpPr/>
        <p:nvPr/>
      </p:nvGrpSpPr>
      <p:grpSpPr>
        <a:xfrm>
          <a:off x="0" y="0"/>
          <a:ext cx="0" cy="0"/>
          <a:chOff x="0" y="0"/>
          <a:chExt cx="0" cy="0"/>
        </a:xfrm>
      </p:grpSpPr>
      <p:sp>
        <p:nvSpPr>
          <p:cNvPr id="2" name="Shape 0"/>
          <p:cNvSpPr/>
          <p:nvPr/>
        </p:nvSpPr>
        <p:spPr>
          <a:xfrm>
            <a:off x="7863840" y="0"/>
            <a:ext cx="4327855" cy="6858000"/>
          </a:xfrm>
          <a:prstGeom prst="rect">
            <a:avLst/>
          </a:prstGeom>
          <a:solidFill>
            <a:srgbClr val="0A2E23"/>
          </a:solidFill>
          <a:ln/>
        </p:spPr>
        <p:txBody>
          <a:bodyPr/>
          <a:lstStyle/>
          <a:p>
            <a:endParaRPr lang="en-ID"/>
          </a:p>
        </p:txBody>
      </p:sp>
      <p:sp>
        <p:nvSpPr>
          <p:cNvPr id="3" name="Shape 1"/>
          <p:cNvSpPr/>
          <p:nvPr/>
        </p:nvSpPr>
        <p:spPr>
          <a:xfrm>
            <a:off x="9692640" y="-1463040"/>
            <a:ext cx="4023360" cy="4023360"/>
          </a:xfrm>
          <a:prstGeom prst="ellipse">
            <a:avLst/>
          </a:prstGeom>
          <a:solidFill>
            <a:srgbClr val="1F7A6C">
              <a:alpha val="22000"/>
            </a:srgbClr>
          </a:solidFill>
          <a:ln/>
        </p:spPr>
        <p:txBody>
          <a:bodyPr/>
          <a:lstStyle/>
          <a:p>
            <a:endParaRPr lang="en-ID"/>
          </a:p>
        </p:txBody>
      </p:sp>
      <p:sp>
        <p:nvSpPr>
          <p:cNvPr id="4" name="Shape 2"/>
          <p:cNvSpPr/>
          <p:nvPr/>
        </p:nvSpPr>
        <p:spPr>
          <a:xfrm>
            <a:off x="8778240" y="4206240"/>
            <a:ext cx="3108960" cy="3108960"/>
          </a:xfrm>
          <a:prstGeom prst="ellipse">
            <a:avLst/>
          </a:prstGeom>
          <a:solidFill>
            <a:srgbClr val="6FAE8B">
              <a:alpha val="18000"/>
            </a:srgbClr>
          </a:solidFill>
          <a:ln/>
        </p:spPr>
        <p:txBody>
          <a:bodyPr/>
          <a:lstStyle/>
          <a:p>
            <a:endParaRPr lang="en-ID"/>
          </a:p>
        </p:txBody>
      </p:sp>
      <p:sp>
        <p:nvSpPr>
          <p:cNvPr id="5" name="Shape 3"/>
          <p:cNvSpPr/>
          <p:nvPr/>
        </p:nvSpPr>
        <p:spPr>
          <a:xfrm>
            <a:off x="548640" y="548640"/>
            <a:ext cx="502920" cy="502920"/>
          </a:xfrm>
          <a:prstGeom prst="ellipse">
            <a:avLst/>
          </a:prstGeom>
          <a:solidFill>
            <a:srgbClr val="1F7A6C"/>
          </a:solidFill>
          <a:ln/>
        </p:spPr>
        <p:txBody>
          <a:bodyPr/>
          <a:lstStyle/>
          <a:p>
            <a:endParaRPr lang="en-ID"/>
          </a:p>
        </p:txBody>
      </p:sp>
      <p:sp>
        <p:nvSpPr>
          <p:cNvPr id="6" name="Text 4"/>
          <p:cNvSpPr/>
          <p:nvPr/>
        </p:nvSpPr>
        <p:spPr>
          <a:xfrm>
            <a:off x="548640" y="548640"/>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1234440" y="576072"/>
            <a:ext cx="5486400" cy="457200"/>
          </a:xfrm>
          <a:prstGeom prst="rect">
            <a:avLst/>
          </a:prstGeom>
          <a:noFill/>
          <a:ln/>
        </p:spPr>
        <p:txBody>
          <a:bodyPr wrap="square" rtlCol="0" anchor="ctr"/>
          <a:lstStyle/>
          <a:p>
            <a:pPr marL="0" indent="0">
              <a:buNone/>
            </a:pPr>
            <a:r>
              <a:rPr lang="en-US" sz="1250" b="1" kern="0" spc="150" dirty="0">
                <a:solidFill>
                  <a:srgbClr val="6FAE8B"/>
                </a:solidFill>
                <a:latin typeface="Calibri" pitchFamily="34" charset="0"/>
                <a:ea typeface="Calibri" pitchFamily="34" charset="-122"/>
                <a:cs typeface="Calibri" pitchFamily="34" charset="-120"/>
              </a:rPr>
              <a:t>EV INDONESIA  ·  PORTFOLIO CASE STUDY</a:t>
            </a:r>
            <a:endParaRPr lang="en-US" sz="1250" dirty="0"/>
          </a:p>
        </p:txBody>
      </p:sp>
      <p:sp>
        <p:nvSpPr>
          <p:cNvPr id="8" name="Text 6"/>
          <p:cNvSpPr/>
          <p:nvPr/>
        </p:nvSpPr>
        <p:spPr>
          <a:xfrm>
            <a:off x="548640" y="2331720"/>
            <a:ext cx="7680960" cy="1737360"/>
          </a:xfrm>
          <a:prstGeom prst="rect">
            <a:avLst/>
          </a:prstGeom>
          <a:noFill/>
          <a:ln/>
        </p:spPr>
        <p:txBody>
          <a:bodyPr wrap="square"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Indonesia Electric</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Vehicle Analysis</a:t>
            </a:r>
            <a:endParaRPr lang="en-US" sz="4400" dirty="0"/>
          </a:p>
        </p:txBody>
      </p:sp>
      <p:sp>
        <p:nvSpPr>
          <p:cNvPr id="9" name="Text 7"/>
          <p:cNvSpPr/>
          <p:nvPr/>
        </p:nvSpPr>
        <p:spPr>
          <a:xfrm>
            <a:off x="566928" y="3977640"/>
            <a:ext cx="6949440" cy="502920"/>
          </a:xfrm>
          <a:prstGeom prst="rect">
            <a:avLst/>
          </a:prstGeom>
          <a:noFill/>
          <a:ln/>
        </p:spPr>
        <p:txBody>
          <a:bodyPr wrap="square" rtlCol="0" anchor="ctr"/>
          <a:lstStyle/>
          <a:p>
            <a:pPr marL="0" indent="0">
              <a:buNone/>
            </a:pPr>
            <a:r>
              <a:rPr lang="en-US" sz="1800" dirty="0">
                <a:solidFill>
                  <a:srgbClr val="DCEEE8"/>
                </a:solidFill>
                <a:latin typeface="Calibri" pitchFamily="34" charset="0"/>
                <a:ea typeface="Calibri" pitchFamily="34" charset="-122"/>
                <a:cs typeface="Calibri" pitchFamily="34" charset="-120"/>
              </a:rPr>
              <a:t>Market Landscape, Vehicle Performance &amp; Budget Opportunity</a:t>
            </a:r>
            <a:endParaRPr lang="en-US" sz="1800" dirty="0"/>
          </a:p>
        </p:txBody>
      </p:sp>
      <p:sp>
        <p:nvSpPr>
          <p:cNvPr id="10" name="Text 8"/>
          <p:cNvSpPr/>
          <p:nvPr/>
        </p:nvSpPr>
        <p:spPr>
          <a:xfrm>
            <a:off x="566928" y="4754880"/>
            <a:ext cx="6400800" cy="1097280"/>
          </a:xfrm>
          <a:prstGeom prst="rect">
            <a:avLst/>
          </a:prstGeom>
          <a:noFill/>
          <a:ln/>
        </p:spPr>
        <p:txBody>
          <a:bodyPr wrap="square" rtlCol="0" anchor="ctr"/>
          <a:lstStyle/>
          <a:p>
            <a:pPr marL="0" indent="0">
              <a:lnSpc>
                <a:spcPct val="135000"/>
              </a:lnSpc>
              <a:buNone/>
            </a:pPr>
            <a:r>
              <a:rPr lang="en-US" sz="1500" b="1" dirty="0">
                <a:solidFill>
                  <a:srgbClr val="FFFFFF"/>
                </a:solidFill>
                <a:latin typeface="Calibri" pitchFamily="34" charset="0"/>
                <a:ea typeface="Calibri" pitchFamily="34" charset="-122"/>
                <a:cs typeface="Calibri" pitchFamily="34" charset="-120"/>
              </a:rPr>
              <a:t>[Brian Naufal]
</a:t>
            </a:r>
            <a:r>
              <a:rPr lang="en-US" sz="1250" dirty="0">
                <a:solidFill>
                  <a:srgbClr val="DCEEE8"/>
                </a:solidFill>
                <a:latin typeface="Calibri" pitchFamily="34" charset="0"/>
                <a:ea typeface="Calibri" pitchFamily="34" charset="-122"/>
                <a:cs typeface="Calibri" pitchFamily="34" charset="-120"/>
              </a:rPr>
              <a:t>Data Analyst  |  Business Intelligence
</a:t>
            </a:r>
            <a:r>
              <a:rPr lang="en-US" sz="1250" dirty="0">
                <a:solidFill>
                  <a:srgbClr val="6FAE8B"/>
                </a:solidFill>
                <a:latin typeface="Calibri" pitchFamily="34" charset="0"/>
                <a:ea typeface="Calibri" pitchFamily="34" charset="-122"/>
                <a:cs typeface="Calibri" pitchFamily="34" charset="-120"/>
              </a:rPr>
              <a:t>Tools: Power BI • DAX • Power Query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01 — BUSINESS CONTEXT</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A Fragmented Market Is Hard to Compare</a:t>
            </a:r>
            <a:endParaRPr lang="en-US" sz="3000" dirty="0"/>
          </a:p>
        </p:txBody>
      </p:sp>
      <p:sp>
        <p:nvSpPr>
          <p:cNvPr id="4" name="Text 2"/>
          <p:cNvSpPr/>
          <p:nvPr/>
        </p:nvSpPr>
        <p:spPr>
          <a:xfrm>
            <a:off x="548640" y="1371600"/>
            <a:ext cx="10881360" cy="685800"/>
          </a:xfrm>
          <a:prstGeom prst="rect">
            <a:avLst/>
          </a:prstGeom>
          <a:noFill/>
          <a:ln/>
        </p:spPr>
        <p:txBody>
          <a:bodyPr wrap="square" rtlCol="0" anchor="ctr"/>
          <a:lstStyle/>
          <a:p>
            <a:pPr marL="0" indent="0">
              <a:lnSpc>
                <a:spcPct val="125000"/>
              </a:lnSpc>
              <a:buNone/>
            </a:pPr>
            <a:r>
              <a:rPr lang="en-US" sz="1400" dirty="0">
                <a:solidFill>
                  <a:srgbClr val="5B6B63"/>
                </a:solidFill>
                <a:latin typeface="Calibri" pitchFamily="34" charset="0"/>
                <a:ea typeface="Calibri" pitchFamily="34" charset="-122"/>
                <a:cs typeface="Calibri" pitchFamily="34" charset="-120"/>
              </a:rPr>
              <a:t>The Indonesian EV market spans dozens of brands with wide variation in price, driving range, battery capacity, motor power and charging time. When these specs live in raw, disconnected tables, stakeholders struggle to compare vehicles or match options to a real budget.</a:t>
            </a:r>
            <a:endParaRPr lang="en-US" sz="1400" dirty="0"/>
          </a:p>
        </p:txBody>
      </p:sp>
      <p:sp>
        <p:nvSpPr>
          <p:cNvPr id="5" name="Shape 3"/>
          <p:cNvSpPr/>
          <p:nvPr/>
        </p:nvSpPr>
        <p:spPr>
          <a:xfrm>
            <a:off x="548640" y="2331720"/>
            <a:ext cx="3456432" cy="2331720"/>
          </a:xfrm>
          <a:prstGeom prst="roundRect">
            <a:avLst>
              <a:gd name="adj" fmla="val 3529"/>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6" name="Shape 4"/>
          <p:cNvSpPr/>
          <p:nvPr/>
        </p:nvSpPr>
        <p:spPr>
          <a:xfrm>
            <a:off x="804672" y="2587752"/>
            <a:ext cx="512064" cy="512064"/>
          </a:xfrm>
          <a:prstGeom prst="ellipse">
            <a:avLst/>
          </a:prstGeom>
          <a:solidFill>
            <a:srgbClr val="0E3B2E"/>
          </a:solidFill>
          <a:ln/>
        </p:spPr>
        <p:txBody>
          <a:bodyPr/>
          <a:lstStyle/>
          <a:p>
            <a:endParaRPr lang="en-ID"/>
          </a:p>
        </p:txBody>
      </p:sp>
      <p:sp>
        <p:nvSpPr>
          <p:cNvPr id="7" name="Text 5"/>
          <p:cNvSpPr/>
          <p:nvPr/>
        </p:nvSpPr>
        <p:spPr>
          <a:xfrm>
            <a:off x="804672" y="2587752"/>
            <a:ext cx="512064"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8" name="Text 6"/>
          <p:cNvSpPr/>
          <p:nvPr/>
        </p:nvSpPr>
        <p:spPr>
          <a:xfrm>
            <a:off x="804672" y="3246120"/>
            <a:ext cx="2944368" cy="457200"/>
          </a:xfrm>
          <a:prstGeom prst="rect">
            <a:avLst/>
          </a:prstGeom>
          <a:noFill/>
          <a:ln/>
        </p:spPr>
        <p:txBody>
          <a:bodyPr wrap="square" rtlCol="0" anchor="ctr"/>
          <a:lstStyle/>
          <a:p>
            <a:pPr marL="0" indent="0">
              <a:buNone/>
            </a:pPr>
            <a:r>
              <a:rPr lang="en-US" sz="1550" b="1" dirty="0">
                <a:solidFill>
                  <a:srgbClr val="132720"/>
                </a:solidFill>
                <a:latin typeface="Cambria" pitchFamily="34" charset="0"/>
                <a:ea typeface="Cambria" pitchFamily="34" charset="-122"/>
                <a:cs typeface="Cambria" pitchFamily="34" charset="-120"/>
              </a:rPr>
              <a:t>Scattered Specifications</a:t>
            </a:r>
            <a:endParaRPr lang="en-US" sz="1550" dirty="0"/>
          </a:p>
        </p:txBody>
      </p:sp>
      <p:sp>
        <p:nvSpPr>
          <p:cNvPr id="9" name="Text 7"/>
          <p:cNvSpPr/>
          <p:nvPr/>
        </p:nvSpPr>
        <p:spPr>
          <a:xfrm>
            <a:off x="804672" y="3685032"/>
            <a:ext cx="2944368" cy="868680"/>
          </a:xfrm>
          <a:prstGeom prst="rect">
            <a:avLst/>
          </a:prstGeom>
          <a:noFill/>
          <a:ln/>
        </p:spPr>
        <p:txBody>
          <a:bodyPr wrap="square" rtlCol="0" anchor="ctr"/>
          <a:lstStyle/>
          <a:p>
            <a:pPr marL="0" indent="0">
              <a:lnSpc>
                <a:spcPct val="120000"/>
              </a:lnSpc>
              <a:buNone/>
            </a:pPr>
            <a:r>
              <a:rPr lang="en-US" sz="1150" dirty="0">
                <a:solidFill>
                  <a:srgbClr val="5B6B63"/>
                </a:solidFill>
                <a:latin typeface="Calibri" pitchFamily="34" charset="0"/>
                <a:ea typeface="Calibri" pitchFamily="34" charset="-122"/>
                <a:cs typeface="Calibri" pitchFamily="34" charset="-120"/>
              </a:rPr>
              <a:t>Price, range, battery, power and charging time sit in separate raw fields — there is no single view to compare trade-offs.</a:t>
            </a:r>
            <a:endParaRPr lang="en-US" sz="1150" dirty="0"/>
          </a:p>
        </p:txBody>
      </p:sp>
      <p:sp>
        <p:nvSpPr>
          <p:cNvPr id="10" name="Shape 8"/>
          <p:cNvSpPr/>
          <p:nvPr/>
        </p:nvSpPr>
        <p:spPr>
          <a:xfrm>
            <a:off x="4261104" y="2331720"/>
            <a:ext cx="3456432" cy="2331720"/>
          </a:xfrm>
          <a:prstGeom prst="roundRect">
            <a:avLst>
              <a:gd name="adj" fmla="val 3529"/>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1" name="Shape 9"/>
          <p:cNvSpPr/>
          <p:nvPr/>
        </p:nvSpPr>
        <p:spPr>
          <a:xfrm>
            <a:off x="4517136" y="2587752"/>
            <a:ext cx="512064" cy="512064"/>
          </a:xfrm>
          <a:prstGeom prst="ellipse">
            <a:avLst/>
          </a:prstGeom>
          <a:solidFill>
            <a:srgbClr val="0E3B2E"/>
          </a:solidFill>
          <a:ln/>
        </p:spPr>
        <p:txBody>
          <a:bodyPr/>
          <a:lstStyle/>
          <a:p>
            <a:endParaRPr lang="en-ID"/>
          </a:p>
        </p:txBody>
      </p:sp>
      <p:sp>
        <p:nvSpPr>
          <p:cNvPr id="12" name="Text 10"/>
          <p:cNvSpPr/>
          <p:nvPr/>
        </p:nvSpPr>
        <p:spPr>
          <a:xfrm>
            <a:off x="4517136" y="2587752"/>
            <a:ext cx="512064"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3" name="Text 11"/>
          <p:cNvSpPr/>
          <p:nvPr/>
        </p:nvSpPr>
        <p:spPr>
          <a:xfrm>
            <a:off x="4517136" y="3246120"/>
            <a:ext cx="2944368" cy="457200"/>
          </a:xfrm>
          <a:prstGeom prst="rect">
            <a:avLst/>
          </a:prstGeom>
          <a:noFill/>
          <a:ln/>
        </p:spPr>
        <p:txBody>
          <a:bodyPr wrap="square" rtlCol="0" anchor="ctr"/>
          <a:lstStyle/>
          <a:p>
            <a:pPr marL="0" indent="0">
              <a:buNone/>
            </a:pPr>
            <a:r>
              <a:rPr lang="en-US" sz="1550" b="1" dirty="0">
                <a:solidFill>
                  <a:srgbClr val="132720"/>
                </a:solidFill>
                <a:latin typeface="Cambria" pitchFamily="34" charset="0"/>
                <a:ea typeface="Cambria" pitchFamily="34" charset="-122"/>
                <a:cs typeface="Cambria" pitchFamily="34" charset="-120"/>
              </a:rPr>
              <a:t>No Budget-Fit View</a:t>
            </a:r>
            <a:endParaRPr lang="en-US" sz="1550" dirty="0"/>
          </a:p>
        </p:txBody>
      </p:sp>
      <p:sp>
        <p:nvSpPr>
          <p:cNvPr id="14" name="Text 12"/>
          <p:cNvSpPr/>
          <p:nvPr/>
        </p:nvSpPr>
        <p:spPr>
          <a:xfrm>
            <a:off x="4517136" y="3685032"/>
            <a:ext cx="2944368" cy="868680"/>
          </a:xfrm>
          <a:prstGeom prst="rect">
            <a:avLst/>
          </a:prstGeom>
          <a:noFill/>
          <a:ln/>
        </p:spPr>
        <p:txBody>
          <a:bodyPr wrap="square" rtlCol="0" anchor="ctr"/>
          <a:lstStyle/>
          <a:p>
            <a:pPr marL="0" indent="0">
              <a:lnSpc>
                <a:spcPct val="120000"/>
              </a:lnSpc>
              <a:buNone/>
            </a:pPr>
            <a:r>
              <a:rPr lang="en-US" sz="1150" dirty="0">
                <a:solidFill>
                  <a:srgbClr val="5B6B63"/>
                </a:solidFill>
                <a:latin typeface="Calibri" pitchFamily="34" charset="0"/>
                <a:ea typeface="Calibri" pitchFamily="34" charset="-122"/>
                <a:cs typeface="Calibri" pitchFamily="34" charset="-120"/>
              </a:rPr>
              <a:t>Buyers and planners cannot easily see which vehicles are realistically within a specific price ceiling.</a:t>
            </a:r>
            <a:endParaRPr lang="en-US" sz="1150" dirty="0"/>
          </a:p>
        </p:txBody>
      </p:sp>
      <p:sp>
        <p:nvSpPr>
          <p:cNvPr id="15" name="Shape 13"/>
          <p:cNvSpPr/>
          <p:nvPr/>
        </p:nvSpPr>
        <p:spPr>
          <a:xfrm>
            <a:off x="7973568" y="2331720"/>
            <a:ext cx="3456432" cy="2331720"/>
          </a:xfrm>
          <a:prstGeom prst="roundRect">
            <a:avLst>
              <a:gd name="adj" fmla="val 3529"/>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6" name="Shape 14"/>
          <p:cNvSpPr/>
          <p:nvPr/>
        </p:nvSpPr>
        <p:spPr>
          <a:xfrm>
            <a:off x="8229600" y="2587752"/>
            <a:ext cx="512064" cy="512064"/>
          </a:xfrm>
          <a:prstGeom prst="ellipse">
            <a:avLst/>
          </a:prstGeom>
          <a:solidFill>
            <a:srgbClr val="0E3B2E"/>
          </a:solidFill>
          <a:ln/>
        </p:spPr>
        <p:txBody>
          <a:bodyPr/>
          <a:lstStyle/>
          <a:p>
            <a:endParaRPr lang="en-ID"/>
          </a:p>
        </p:txBody>
      </p:sp>
      <p:sp>
        <p:nvSpPr>
          <p:cNvPr id="17" name="Text 15"/>
          <p:cNvSpPr/>
          <p:nvPr/>
        </p:nvSpPr>
        <p:spPr>
          <a:xfrm>
            <a:off x="8229600" y="2587752"/>
            <a:ext cx="512064"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8" name="Text 16"/>
          <p:cNvSpPr/>
          <p:nvPr/>
        </p:nvSpPr>
        <p:spPr>
          <a:xfrm>
            <a:off x="8229600" y="3246120"/>
            <a:ext cx="2944368" cy="457200"/>
          </a:xfrm>
          <a:prstGeom prst="rect">
            <a:avLst/>
          </a:prstGeom>
          <a:noFill/>
          <a:ln/>
        </p:spPr>
        <p:txBody>
          <a:bodyPr wrap="square" rtlCol="0" anchor="ctr"/>
          <a:lstStyle/>
          <a:p>
            <a:pPr marL="0" indent="0">
              <a:buNone/>
            </a:pPr>
            <a:r>
              <a:rPr lang="en-US" sz="1550" b="1" dirty="0">
                <a:solidFill>
                  <a:srgbClr val="132720"/>
                </a:solidFill>
                <a:latin typeface="Cambria" pitchFamily="34" charset="0"/>
                <a:ea typeface="Cambria" pitchFamily="34" charset="-122"/>
                <a:cs typeface="Cambria" pitchFamily="34" charset="-120"/>
              </a:rPr>
              <a:t>“Value” Is Guesswork</a:t>
            </a:r>
            <a:endParaRPr lang="en-US" sz="1550" dirty="0"/>
          </a:p>
        </p:txBody>
      </p:sp>
      <p:sp>
        <p:nvSpPr>
          <p:cNvPr id="19" name="Text 17"/>
          <p:cNvSpPr/>
          <p:nvPr/>
        </p:nvSpPr>
        <p:spPr>
          <a:xfrm>
            <a:off x="8229600" y="3685032"/>
            <a:ext cx="2944368" cy="868680"/>
          </a:xfrm>
          <a:prstGeom prst="rect">
            <a:avLst/>
          </a:prstGeom>
          <a:noFill/>
          <a:ln/>
        </p:spPr>
        <p:txBody>
          <a:bodyPr wrap="square" rtlCol="0" anchor="ctr"/>
          <a:lstStyle/>
          <a:p>
            <a:pPr marL="0" indent="0">
              <a:lnSpc>
                <a:spcPct val="120000"/>
              </a:lnSpc>
              <a:buNone/>
            </a:pPr>
            <a:r>
              <a:rPr lang="en-US" sz="1150" dirty="0">
                <a:solidFill>
                  <a:srgbClr val="5B6B63"/>
                </a:solidFill>
                <a:latin typeface="Calibri" pitchFamily="34" charset="0"/>
                <a:ea typeface="Calibri" pitchFamily="34" charset="-122"/>
                <a:cs typeface="Calibri" pitchFamily="34" charset="-120"/>
              </a:rPr>
              <a:t>Without a consistent value metric, choosing the best price-to-performance option relies on gut feel, not data.</a:t>
            </a:r>
            <a:endParaRPr lang="en-US" sz="1150" dirty="0"/>
          </a:p>
        </p:txBody>
      </p:sp>
      <p:sp>
        <p:nvSpPr>
          <p:cNvPr id="20" name="Shape 18"/>
          <p:cNvSpPr/>
          <p:nvPr/>
        </p:nvSpPr>
        <p:spPr>
          <a:xfrm>
            <a:off x="548640" y="5029200"/>
            <a:ext cx="11091672" cy="1234440"/>
          </a:xfrm>
          <a:prstGeom prst="roundRect">
            <a:avLst>
              <a:gd name="adj" fmla="val 6667"/>
            </a:avLst>
          </a:prstGeom>
          <a:solidFill>
            <a:srgbClr val="0E3B2E"/>
          </a:solidFill>
          <a:ln/>
        </p:spPr>
        <p:txBody>
          <a:bodyPr/>
          <a:lstStyle/>
          <a:p>
            <a:endParaRPr lang="en-ID"/>
          </a:p>
        </p:txBody>
      </p:sp>
      <p:sp>
        <p:nvSpPr>
          <p:cNvPr id="21" name="Text 19"/>
          <p:cNvSpPr/>
          <p:nvPr/>
        </p:nvSpPr>
        <p:spPr>
          <a:xfrm>
            <a:off x="868680" y="5193792"/>
            <a:ext cx="5486400" cy="274320"/>
          </a:xfrm>
          <a:prstGeom prst="rect">
            <a:avLst/>
          </a:prstGeom>
          <a:noFill/>
          <a:ln/>
        </p:spPr>
        <p:txBody>
          <a:bodyPr wrap="square" rtlCol="0" anchor="ctr"/>
          <a:lstStyle/>
          <a:p>
            <a:pPr marL="0" indent="0">
              <a:buNone/>
            </a:pPr>
            <a:r>
              <a:rPr lang="en-US" sz="1050" b="1" kern="0" spc="150" dirty="0">
                <a:solidFill>
                  <a:srgbClr val="6FAE8B"/>
                </a:solidFill>
                <a:latin typeface="Calibri" pitchFamily="34" charset="0"/>
                <a:ea typeface="Calibri" pitchFamily="34" charset="-122"/>
                <a:cs typeface="Calibri" pitchFamily="34" charset="-120"/>
              </a:rPr>
              <a:t>THE BUSINESS QUESTION</a:t>
            </a:r>
            <a:endParaRPr lang="en-US" sz="1050" dirty="0"/>
          </a:p>
        </p:txBody>
      </p:sp>
      <p:sp>
        <p:nvSpPr>
          <p:cNvPr id="22" name="Text 20"/>
          <p:cNvSpPr/>
          <p:nvPr/>
        </p:nvSpPr>
        <p:spPr>
          <a:xfrm>
            <a:off x="868680" y="5468112"/>
            <a:ext cx="10424160" cy="685800"/>
          </a:xfrm>
          <a:prstGeom prst="rect">
            <a:avLst/>
          </a:prstGeom>
          <a:noFill/>
          <a:ln/>
        </p:spPr>
        <p:txBody>
          <a:bodyPr wrap="square" rtlCol="0" anchor="ctr"/>
          <a:lstStyle/>
          <a:p>
            <a:pPr marL="0" indent="0">
              <a:lnSpc>
                <a:spcPct val="115000"/>
              </a:lnSpc>
              <a:buNone/>
            </a:pPr>
            <a:r>
              <a:rPr lang="en-US" sz="1650" i="1" dirty="0">
                <a:solidFill>
                  <a:srgbClr val="FFFFFF"/>
                </a:solidFill>
                <a:latin typeface="Cambria" pitchFamily="34" charset="0"/>
                <a:ea typeface="Cambria" pitchFamily="34" charset="-122"/>
                <a:cs typeface="Cambria" pitchFamily="34" charset="-120"/>
              </a:rPr>
              <a:t>“Which EV models offer the best balance between price, range and performance — and which options fit a given budget?”</a:t>
            </a:r>
            <a:endParaRPr lang="en-US" sz="1650" dirty="0"/>
          </a:p>
        </p:txBody>
      </p:sp>
      <p:sp>
        <p:nvSpPr>
          <p:cNvPr id="23" name="Text 21"/>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Business Context</a:t>
            </a:r>
            <a:endParaRPr lang="en-US" sz="900" dirty="0"/>
          </a:p>
        </p:txBody>
      </p:sp>
      <p:sp>
        <p:nvSpPr>
          <p:cNvPr id="24" name="Text 22"/>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02 — OBJECTIVES</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Four Questions Guide the Analysis</a:t>
            </a:r>
            <a:endParaRPr lang="en-US" sz="3000" dirty="0"/>
          </a:p>
        </p:txBody>
      </p:sp>
      <p:sp>
        <p:nvSpPr>
          <p:cNvPr id="4" name="Text 2"/>
          <p:cNvSpPr/>
          <p:nvPr/>
        </p:nvSpPr>
        <p:spPr>
          <a:xfrm>
            <a:off x="548640" y="1371600"/>
            <a:ext cx="9144000" cy="365760"/>
          </a:xfrm>
          <a:prstGeom prst="rect">
            <a:avLst/>
          </a:prstGeom>
          <a:noFill/>
          <a:ln/>
        </p:spPr>
        <p:txBody>
          <a:bodyPr wrap="square" rtlCol="0" anchor="ctr"/>
          <a:lstStyle/>
          <a:p>
            <a:pPr marL="0" indent="0">
              <a:buNone/>
            </a:pPr>
            <a:r>
              <a:rPr lang="en-US" sz="1350" dirty="0">
                <a:solidFill>
                  <a:srgbClr val="5B6B63"/>
                </a:solidFill>
                <a:latin typeface="Calibri" pitchFamily="34" charset="0"/>
                <a:ea typeface="Calibri" pitchFamily="34" charset="-122"/>
                <a:cs typeface="Calibri" pitchFamily="34" charset="-120"/>
              </a:rPr>
              <a:t>Each analytical question maps directly to a page in the Power BI dashboard.</a:t>
            </a:r>
            <a:endParaRPr lang="en-US" sz="1350" dirty="0"/>
          </a:p>
        </p:txBody>
      </p:sp>
      <p:sp>
        <p:nvSpPr>
          <p:cNvPr id="5" name="Shape 3"/>
          <p:cNvSpPr/>
          <p:nvPr/>
        </p:nvSpPr>
        <p:spPr>
          <a:xfrm>
            <a:off x="548640" y="1965960"/>
            <a:ext cx="11091672" cy="896112"/>
          </a:xfrm>
          <a:prstGeom prst="roundRect">
            <a:avLst>
              <a:gd name="adj" fmla="val 816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6" name="Shape 4"/>
          <p:cNvSpPr/>
          <p:nvPr/>
        </p:nvSpPr>
        <p:spPr>
          <a:xfrm>
            <a:off x="777240" y="2139696"/>
            <a:ext cx="548640" cy="548640"/>
          </a:xfrm>
          <a:prstGeom prst="ellipse">
            <a:avLst/>
          </a:prstGeom>
          <a:solidFill>
            <a:srgbClr val="1F7A6C"/>
          </a:solidFill>
          <a:ln/>
        </p:spPr>
        <p:txBody>
          <a:bodyPr/>
          <a:lstStyle/>
          <a:p>
            <a:endParaRPr lang="en-ID"/>
          </a:p>
        </p:txBody>
      </p:sp>
      <p:sp>
        <p:nvSpPr>
          <p:cNvPr id="7" name="Text 5"/>
          <p:cNvSpPr/>
          <p:nvPr/>
        </p:nvSpPr>
        <p:spPr>
          <a:xfrm>
            <a:off x="777240" y="2139696"/>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1600200" y="1965960"/>
            <a:ext cx="7223760" cy="896112"/>
          </a:xfrm>
          <a:prstGeom prst="rect">
            <a:avLst/>
          </a:prstGeom>
          <a:noFill/>
          <a:ln/>
        </p:spPr>
        <p:txBody>
          <a:bodyPr wrap="square" rtlCol="0" anchor="ctr"/>
          <a:lstStyle/>
          <a:p>
            <a:pPr marL="0" indent="0">
              <a:buNone/>
            </a:pPr>
            <a:r>
              <a:rPr lang="en-US" sz="1500" b="1" dirty="0">
                <a:solidFill>
                  <a:srgbClr val="132720"/>
                </a:solidFill>
                <a:latin typeface="Calibri" pitchFamily="34" charset="0"/>
                <a:ea typeface="Calibri" pitchFamily="34" charset="-122"/>
                <a:cs typeface="Calibri" pitchFamily="34" charset="-120"/>
              </a:rPr>
              <a:t>What does the EV market landscape look like?</a:t>
            </a:r>
            <a:endParaRPr lang="en-US" sz="1500" dirty="0"/>
          </a:p>
        </p:txBody>
      </p:sp>
      <p:sp>
        <p:nvSpPr>
          <p:cNvPr id="9" name="Shape 7"/>
          <p:cNvSpPr/>
          <p:nvPr/>
        </p:nvSpPr>
        <p:spPr>
          <a:xfrm>
            <a:off x="9006840" y="2139696"/>
            <a:ext cx="2450592" cy="548640"/>
          </a:xfrm>
          <a:prstGeom prst="roundRect">
            <a:avLst>
              <a:gd name="adj" fmla="val 50000"/>
            </a:avLst>
          </a:prstGeom>
          <a:solidFill>
            <a:srgbClr val="0E3B2E"/>
          </a:solidFill>
          <a:ln/>
        </p:spPr>
        <p:txBody>
          <a:bodyPr/>
          <a:lstStyle/>
          <a:p>
            <a:endParaRPr lang="en-ID"/>
          </a:p>
        </p:txBody>
      </p:sp>
      <p:sp>
        <p:nvSpPr>
          <p:cNvPr id="10" name="Text 8"/>
          <p:cNvSpPr/>
          <p:nvPr/>
        </p:nvSpPr>
        <p:spPr>
          <a:xfrm>
            <a:off x="9006840" y="2139696"/>
            <a:ext cx="2450592"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Market Analysis</a:t>
            </a:r>
            <a:endParaRPr lang="en-US" sz="1200" dirty="0"/>
          </a:p>
        </p:txBody>
      </p:sp>
      <p:sp>
        <p:nvSpPr>
          <p:cNvPr id="11" name="Shape 9"/>
          <p:cNvSpPr/>
          <p:nvPr/>
        </p:nvSpPr>
        <p:spPr>
          <a:xfrm>
            <a:off x="548640" y="2990088"/>
            <a:ext cx="11091672" cy="896112"/>
          </a:xfrm>
          <a:prstGeom prst="roundRect">
            <a:avLst>
              <a:gd name="adj" fmla="val 816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2" name="Shape 10"/>
          <p:cNvSpPr/>
          <p:nvPr/>
        </p:nvSpPr>
        <p:spPr>
          <a:xfrm>
            <a:off x="777240" y="3163824"/>
            <a:ext cx="548640" cy="548640"/>
          </a:xfrm>
          <a:prstGeom prst="ellipse">
            <a:avLst/>
          </a:prstGeom>
          <a:solidFill>
            <a:srgbClr val="1F7A6C"/>
          </a:solidFill>
          <a:ln/>
        </p:spPr>
        <p:txBody>
          <a:bodyPr/>
          <a:lstStyle/>
          <a:p>
            <a:endParaRPr lang="en-ID"/>
          </a:p>
        </p:txBody>
      </p:sp>
      <p:sp>
        <p:nvSpPr>
          <p:cNvPr id="13" name="Text 11"/>
          <p:cNvSpPr/>
          <p:nvPr/>
        </p:nvSpPr>
        <p:spPr>
          <a:xfrm>
            <a:off x="777240" y="3163824"/>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Text 12"/>
          <p:cNvSpPr/>
          <p:nvPr/>
        </p:nvSpPr>
        <p:spPr>
          <a:xfrm>
            <a:off x="1600200" y="2990088"/>
            <a:ext cx="7223760" cy="896112"/>
          </a:xfrm>
          <a:prstGeom prst="rect">
            <a:avLst/>
          </a:prstGeom>
          <a:noFill/>
          <a:ln/>
        </p:spPr>
        <p:txBody>
          <a:bodyPr wrap="square" rtlCol="0" anchor="ctr"/>
          <a:lstStyle/>
          <a:p>
            <a:pPr marL="0" indent="0">
              <a:buNone/>
            </a:pPr>
            <a:r>
              <a:rPr lang="en-US" sz="1500" b="1" dirty="0">
                <a:solidFill>
                  <a:srgbClr val="132720"/>
                </a:solidFill>
                <a:latin typeface="Calibri" pitchFamily="34" charset="0"/>
                <a:ea typeface="Calibri" pitchFamily="34" charset="-122"/>
                <a:cs typeface="Calibri" pitchFamily="34" charset="-120"/>
              </a:rPr>
              <a:t>Which EV models offer the best value?</a:t>
            </a:r>
            <a:endParaRPr lang="en-US" sz="1500" dirty="0"/>
          </a:p>
        </p:txBody>
      </p:sp>
      <p:sp>
        <p:nvSpPr>
          <p:cNvPr id="15" name="Shape 13"/>
          <p:cNvSpPr/>
          <p:nvPr/>
        </p:nvSpPr>
        <p:spPr>
          <a:xfrm>
            <a:off x="9006840" y="3163824"/>
            <a:ext cx="2450592" cy="548640"/>
          </a:xfrm>
          <a:prstGeom prst="roundRect">
            <a:avLst>
              <a:gd name="adj" fmla="val 50000"/>
            </a:avLst>
          </a:prstGeom>
          <a:solidFill>
            <a:srgbClr val="0E3B2E"/>
          </a:solidFill>
          <a:ln/>
        </p:spPr>
        <p:txBody>
          <a:bodyPr/>
          <a:lstStyle/>
          <a:p>
            <a:endParaRPr lang="en-ID"/>
          </a:p>
        </p:txBody>
      </p:sp>
      <p:sp>
        <p:nvSpPr>
          <p:cNvPr id="16" name="Text 14"/>
          <p:cNvSpPr/>
          <p:nvPr/>
        </p:nvSpPr>
        <p:spPr>
          <a:xfrm>
            <a:off x="9006840" y="3163824"/>
            <a:ext cx="2450592"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Vehicle Analysis</a:t>
            </a:r>
            <a:endParaRPr lang="en-US" sz="1200" dirty="0"/>
          </a:p>
        </p:txBody>
      </p:sp>
      <p:sp>
        <p:nvSpPr>
          <p:cNvPr id="17" name="Shape 15"/>
          <p:cNvSpPr/>
          <p:nvPr/>
        </p:nvSpPr>
        <p:spPr>
          <a:xfrm>
            <a:off x="548640" y="4014216"/>
            <a:ext cx="11091672" cy="896112"/>
          </a:xfrm>
          <a:prstGeom prst="roundRect">
            <a:avLst>
              <a:gd name="adj" fmla="val 816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8" name="Shape 16"/>
          <p:cNvSpPr/>
          <p:nvPr/>
        </p:nvSpPr>
        <p:spPr>
          <a:xfrm>
            <a:off x="777240" y="4187952"/>
            <a:ext cx="548640" cy="548640"/>
          </a:xfrm>
          <a:prstGeom prst="ellipse">
            <a:avLst/>
          </a:prstGeom>
          <a:solidFill>
            <a:srgbClr val="1F7A6C"/>
          </a:solidFill>
          <a:ln/>
        </p:spPr>
        <p:txBody>
          <a:bodyPr/>
          <a:lstStyle/>
          <a:p>
            <a:endParaRPr lang="en-ID"/>
          </a:p>
        </p:txBody>
      </p:sp>
      <p:sp>
        <p:nvSpPr>
          <p:cNvPr id="19" name="Text 17"/>
          <p:cNvSpPr/>
          <p:nvPr/>
        </p:nvSpPr>
        <p:spPr>
          <a:xfrm>
            <a:off x="777240" y="4187952"/>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0" name="Text 18"/>
          <p:cNvSpPr/>
          <p:nvPr/>
        </p:nvSpPr>
        <p:spPr>
          <a:xfrm>
            <a:off x="1600200" y="4014216"/>
            <a:ext cx="7223760" cy="896112"/>
          </a:xfrm>
          <a:prstGeom prst="rect">
            <a:avLst/>
          </a:prstGeom>
          <a:noFill/>
          <a:ln/>
        </p:spPr>
        <p:txBody>
          <a:bodyPr wrap="square" rtlCol="0" anchor="ctr"/>
          <a:lstStyle/>
          <a:p>
            <a:pPr marL="0" indent="0">
              <a:buNone/>
            </a:pPr>
            <a:r>
              <a:rPr lang="en-US" sz="1500" b="1" dirty="0">
                <a:solidFill>
                  <a:srgbClr val="132720"/>
                </a:solidFill>
                <a:latin typeface="Calibri" pitchFamily="34" charset="0"/>
                <a:ea typeface="Calibri" pitchFamily="34" charset="-122"/>
                <a:cs typeface="Calibri" pitchFamily="34" charset="-120"/>
              </a:rPr>
              <a:t>How are price, battery, power and driving range related?</a:t>
            </a:r>
            <a:endParaRPr lang="en-US" sz="1500" dirty="0"/>
          </a:p>
        </p:txBody>
      </p:sp>
      <p:sp>
        <p:nvSpPr>
          <p:cNvPr id="21" name="Shape 19"/>
          <p:cNvSpPr/>
          <p:nvPr/>
        </p:nvSpPr>
        <p:spPr>
          <a:xfrm>
            <a:off x="9006840" y="4187952"/>
            <a:ext cx="2450592" cy="548640"/>
          </a:xfrm>
          <a:prstGeom prst="roundRect">
            <a:avLst>
              <a:gd name="adj" fmla="val 50000"/>
            </a:avLst>
          </a:prstGeom>
          <a:solidFill>
            <a:srgbClr val="0E3B2E"/>
          </a:solidFill>
          <a:ln/>
        </p:spPr>
        <p:txBody>
          <a:bodyPr/>
          <a:lstStyle/>
          <a:p>
            <a:endParaRPr lang="en-ID"/>
          </a:p>
        </p:txBody>
      </p:sp>
      <p:sp>
        <p:nvSpPr>
          <p:cNvPr id="22" name="Text 20"/>
          <p:cNvSpPr/>
          <p:nvPr/>
        </p:nvSpPr>
        <p:spPr>
          <a:xfrm>
            <a:off x="9006840" y="4187952"/>
            <a:ext cx="2450592"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Vehicle Analysis</a:t>
            </a:r>
            <a:endParaRPr lang="en-US" sz="1200" dirty="0"/>
          </a:p>
        </p:txBody>
      </p:sp>
      <p:sp>
        <p:nvSpPr>
          <p:cNvPr id="23" name="Shape 21"/>
          <p:cNvSpPr/>
          <p:nvPr/>
        </p:nvSpPr>
        <p:spPr>
          <a:xfrm>
            <a:off x="548640" y="5038344"/>
            <a:ext cx="11091672" cy="896112"/>
          </a:xfrm>
          <a:prstGeom prst="roundRect">
            <a:avLst>
              <a:gd name="adj" fmla="val 816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24" name="Shape 22"/>
          <p:cNvSpPr/>
          <p:nvPr/>
        </p:nvSpPr>
        <p:spPr>
          <a:xfrm>
            <a:off x="777240" y="5212080"/>
            <a:ext cx="548640" cy="548640"/>
          </a:xfrm>
          <a:prstGeom prst="ellipse">
            <a:avLst/>
          </a:prstGeom>
          <a:solidFill>
            <a:srgbClr val="1F7A6C"/>
          </a:solidFill>
          <a:ln/>
        </p:spPr>
        <p:txBody>
          <a:bodyPr/>
          <a:lstStyle/>
          <a:p>
            <a:endParaRPr lang="en-ID"/>
          </a:p>
        </p:txBody>
      </p:sp>
      <p:sp>
        <p:nvSpPr>
          <p:cNvPr id="25" name="Text 23"/>
          <p:cNvSpPr/>
          <p:nvPr/>
        </p:nvSpPr>
        <p:spPr>
          <a:xfrm>
            <a:off x="777240" y="52120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6" name="Text 24"/>
          <p:cNvSpPr/>
          <p:nvPr/>
        </p:nvSpPr>
        <p:spPr>
          <a:xfrm>
            <a:off x="1600200" y="5038344"/>
            <a:ext cx="7223760" cy="896112"/>
          </a:xfrm>
          <a:prstGeom prst="rect">
            <a:avLst/>
          </a:prstGeom>
          <a:noFill/>
          <a:ln/>
        </p:spPr>
        <p:txBody>
          <a:bodyPr wrap="square" rtlCol="0" anchor="ctr"/>
          <a:lstStyle/>
          <a:p>
            <a:pPr marL="0" indent="0">
              <a:buNone/>
            </a:pPr>
            <a:r>
              <a:rPr lang="en-US" sz="1500" b="1" dirty="0">
                <a:solidFill>
                  <a:srgbClr val="132720"/>
                </a:solidFill>
                <a:latin typeface="Calibri" pitchFamily="34" charset="0"/>
                <a:ea typeface="Calibri" pitchFamily="34" charset="-122"/>
                <a:cs typeface="Calibri" pitchFamily="34" charset="-120"/>
              </a:rPr>
              <a:t>Which EV models fit a selected budget?</a:t>
            </a:r>
            <a:endParaRPr lang="en-US" sz="1500" dirty="0"/>
          </a:p>
        </p:txBody>
      </p:sp>
      <p:sp>
        <p:nvSpPr>
          <p:cNvPr id="27" name="Shape 25"/>
          <p:cNvSpPr/>
          <p:nvPr/>
        </p:nvSpPr>
        <p:spPr>
          <a:xfrm>
            <a:off x="9006840" y="5212080"/>
            <a:ext cx="2450592" cy="548640"/>
          </a:xfrm>
          <a:prstGeom prst="roundRect">
            <a:avLst>
              <a:gd name="adj" fmla="val 50000"/>
            </a:avLst>
          </a:prstGeom>
          <a:solidFill>
            <a:srgbClr val="0E3B2E"/>
          </a:solidFill>
          <a:ln/>
        </p:spPr>
        <p:txBody>
          <a:bodyPr/>
          <a:lstStyle/>
          <a:p>
            <a:endParaRPr lang="en-ID"/>
          </a:p>
        </p:txBody>
      </p:sp>
      <p:sp>
        <p:nvSpPr>
          <p:cNvPr id="28" name="Text 26"/>
          <p:cNvSpPr/>
          <p:nvPr/>
        </p:nvSpPr>
        <p:spPr>
          <a:xfrm>
            <a:off x="9006840" y="5212080"/>
            <a:ext cx="2450592"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Budget Simulator</a:t>
            </a:r>
            <a:endParaRPr lang="en-US" sz="1200" dirty="0"/>
          </a:p>
        </p:txBody>
      </p:sp>
      <p:sp>
        <p:nvSpPr>
          <p:cNvPr id="29" name="Text 27"/>
          <p:cNvSpPr/>
          <p:nvPr/>
        </p:nvSpPr>
        <p:spPr>
          <a:xfrm>
            <a:off x="548640" y="6080760"/>
            <a:ext cx="10972800" cy="320040"/>
          </a:xfrm>
          <a:prstGeom prst="rect">
            <a:avLst/>
          </a:prstGeom>
          <a:noFill/>
          <a:ln/>
        </p:spPr>
        <p:txBody>
          <a:bodyPr wrap="square" rtlCol="0" anchor="ctr"/>
          <a:lstStyle/>
          <a:p>
            <a:pPr marL="0" indent="0">
              <a:buNone/>
            </a:pPr>
            <a:r>
              <a:rPr lang="en-US" sz="1150" i="1" dirty="0">
                <a:solidFill>
                  <a:srgbClr val="1F7A6C"/>
                </a:solidFill>
                <a:latin typeface="Calibri" pitchFamily="34" charset="0"/>
                <a:ea typeface="Calibri" pitchFamily="34" charset="-122"/>
                <a:cs typeface="Calibri" pitchFamily="34" charset="-120"/>
              </a:rPr>
              <a:t>Business Insights consolidates all four analyses into decision-ready recommendations →</a:t>
            </a:r>
            <a:endParaRPr lang="en-US" sz="1150" dirty="0"/>
          </a:p>
        </p:txBody>
      </p:sp>
      <p:sp>
        <p:nvSpPr>
          <p:cNvPr id="30" name="Text 28"/>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Objectives &amp; Analytical Questions</a:t>
            </a:r>
            <a:endParaRPr lang="en-US" sz="900" dirty="0"/>
          </a:p>
        </p:txBody>
      </p:sp>
      <p:sp>
        <p:nvSpPr>
          <p:cNvPr id="31" name="Text 29"/>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03 — DATASET &amp; PREPARATION</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From Raw Specs to Analysis-Ready Data</a:t>
            </a:r>
            <a:endParaRPr lang="en-US" sz="3000" dirty="0"/>
          </a:p>
        </p:txBody>
      </p:sp>
      <p:sp>
        <p:nvSpPr>
          <p:cNvPr id="4" name="Shape 2"/>
          <p:cNvSpPr/>
          <p:nvPr/>
        </p:nvSpPr>
        <p:spPr>
          <a:xfrm>
            <a:off x="548640" y="1417320"/>
            <a:ext cx="5074920" cy="3246120"/>
          </a:xfrm>
          <a:prstGeom prst="roundRect">
            <a:avLst>
              <a:gd name="adj" fmla="val 2535"/>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5" name="Text 3"/>
          <p:cNvSpPr/>
          <p:nvPr/>
        </p:nvSpPr>
        <p:spPr>
          <a:xfrm>
            <a:off x="822960" y="1600200"/>
            <a:ext cx="2743200" cy="914400"/>
          </a:xfrm>
          <a:prstGeom prst="rect">
            <a:avLst/>
          </a:prstGeom>
          <a:noFill/>
          <a:ln/>
        </p:spPr>
        <p:txBody>
          <a:bodyPr wrap="square" rtlCol="0" anchor="ctr"/>
          <a:lstStyle/>
          <a:p>
            <a:pPr marL="0" indent="0">
              <a:buNone/>
            </a:pPr>
            <a:r>
              <a:rPr lang="en-US" sz="5200" b="1" dirty="0">
                <a:solidFill>
                  <a:srgbClr val="0E3B2E"/>
                </a:solidFill>
                <a:latin typeface="Cambria" pitchFamily="34" charset="0"/>
                <a:ea typeface="Cambria" pitchFamily="34" charset="-122"/>
                <a:cs typeface="Cambria" pitchFamily="34" charset="-120"/>
              </a:rPr>
              <a:t>60</a:t>
            </a:r>
            <a:endParaRPr lang="en-US" sz="5200" dirty="0"/>
          </a:p>
        </p:txBody>
      </p:sp>
      <p:sp>
        <p:nvSpPr>
          <p:cNvPr id="6" name="Text 4"/>
          <p:cNvSpPr/>
          <p:nvPr/>
        </p:nvSpPr>
        <p:spPr>
          <a:xfrm>
            <a:off x="841248" y="2395728"/>
            <a:ext cx="4114800" cy="320040"/>
          </a:xfrm>
          <a:prstGeom prst="rect">
            <a:avLst/>
          </a:prstGeom>
          <a:noFill/>
          <a:ln/>
        </p:spPr>
        <p:txBody>
          <a:bodyPr wrap="square" rtlCol="0" anchor="ctr"/>
          <a:lstStyle/>
          <a:p>
            <a:pPr marL="0" indent="0">
              <a:buNone/>
            </a:pPr>
            <a:r>
              <a:rPr lang="en-US" sz="1150" b="1" kern="0" spc="100" dirty="0">
                <a:solidFill>
                  <a:srgbClr val="1F7A6C"/>
                </a:solidFill>
                <a:latin typeface="Calibri" pitchFamily="34" charset="0"/>
                <a:ea typeface="Calibri" pitchFamily="34" charset="-122"/>
                <a:cs typeface="Calibri" pitchFamily="34" charset="-120"/>
              </a:rPr>
              <a:t>EV MODELS IN THE CATALOG</a:t>
            </a:r>
            <a:endParaRPr lang="en-US" sz="1150" dirty="0"/>
          </a:p>
        </p:txBody>
      </p:sp>
      <p:sp>
        <p:nvSpPr>
          <p:cNvPr id="7" name="Text 5"/>
          <p:cNvSpPr/>
          <p:nvPr/>
        </p:nvSpPr>
        <p:spPr>
          <a:xfrm>
            <a:off x="841248" y="2880360"/>
            <a:ext cx="4480560" cy="1645920"/>
          </a:xfrm>
          <a:prstGeom prst="rect">
            <a:avLst/>
          </a:prstGeom>
          <a:noFill/>
          <a:ln/>
        </p:spPr>
        <p:txBody>
          <a:bodyPr wrap="square" rtlCol="0" anchor="ctr"/>
          <a:lstStyle/>
          <a:p>
            <a:pPr marL="0" indent="0">
              <a:lnSpc>
                <a:spcPct val="140000"/>
              </a:lnSpc>
              <a:buNone/>
            </a:pPr>
            <a:r>
              <a:rPr lang="en-US" sz="1250" dirty="0">
                <a:solidFill>
                  <a:srgbClr val="5B6B63"/>
                </a:solidFill>
                <a:latin typeface="Calibri" pitchFamily="34" charset="0"/>
                <a:ea typeface="Calibri" pitchFamily="34" charset="-122"/>
                <a:cs typeface="Calibri" pitchFamily="34" charset="-120"/>
              </a:rPr>
              <a:t>Vehicle Name • Brand • Price • Driving Range • Battery Capacity • Motor Power • Charging Time • Seating Capacity</a:t>
            </a:r>
            <a:endParaRPr lang="en-US" sz="1250" dirty="0"/>
          </a:p>
        </p:txBody>
      </p:sp>
      <p:sp>
        <p:nvSpPr>
          <p:cNvPr id="8" name="Shape 6"/>
          <p:cNvSpPr/>
          <p:nvPr/>
        </p:nvSpPr>
        <p:spPr>
          <a:xfrm>
            <a:off x="5989320" y="1417320"/>
            <a:ext cx="5650992" cy="475488"/>
          </a:xfrm>
          <a:prstGeom prst="roundRect">
            <a:avLst>
              <a:gd name="adj" fmla="val 50000"/>
            </a:avLst>
          </a:prstGeom>
          <a:solidFill>
            <a:srgbClr val="EAF3EE"/>
          </a:solidFill>
          <a:ln w="9525">
            <a:solidFill>
              <a:srgbClr val="D8E4DE"/>
            </a:solidFill>
            <a:prstDash val="solid"/>
          </a:ln>
        </p:spPr>
        <p:txBody>
          <a:bodyPr/>
          <a:lstStyle/>
          <a:p>
            <a:endParaRPr lang="en-ID"/>
          </a:p>
        </p:txBody>
      </p:sp>
      <p:sp>
        <p:nvSpPr>
          <p:cNvPr id="9" name="Text 7"/>
          <p:cNvSpPr/>
          <p:nvPr/>
        </p:nvSpPr>
        <p:spPr>
          <a:xfrm>
            <a:off x="5989320" y="1417320"/>
            <a:ext cx="5650992" cy="475488"/>
          </a:xfrm>
          <a:prstGeom prst="rect">
            <a:avLst/>
          </a:prstGeom>
          <a:noFill/>
          <a:ln/>
        </p:spPr>
        <p:txBody>
          <a:bodyPr wrap="square" rtlCol="0" anchor="ctr"/>
          <a:lstStyle/>
          <a:p>
            <a:pPr marL="0" indent="0" algn="ctr">
              <a:buNone/>
            </a:pPr>
            <a:r>
              <a:rPr lang="en-US" sz="1250" b="1" dirty="0">
                <a:solidFill>
                  <a:srgbClr val="132720"/>
                </a:solidFill>
                <a:latin typeface="Calibri" pitchFamily="34" charset="0"/>
                <a:ea typeface="Calibri" pitchFamily="34" charset="-122"/>
                <a:cs typeface="Calibri" pitchFamily="34" charset="-120"/>
              </a:rPr>
              <a:t>Raw Data</a:t>
            </a:r>
            <a:endParaRPr lang="en-US" sz="1250" dirty="0"/>
          </a:p>
        </p:txBody>
      </p:sp>
      <p:sp>
        <p:nvSpPr>
          <p:cNvPr id="10" name="Text 8"/>
          <p:cNvSpPr/>
          <p:nvPr/>
        </p:nvSpPr>
        <p:spPr>
          <a:xfrm>
            <a:off x="8641080" y="1874520"/>
            <a:ext cx="365760" cy="169164"/>
          </a:xfrm>
          <a:prstGeom prst="rect">
            <a:avLst/>
          </a:prstGeom>
          <a:noFill/>
          <a:ln/>
        </p:spPr>
        <p:txBody>
          <a:bodyPr wrap="square" rtlCol="0" anchor="ctr"/>
          <a:lstStyle/>
          <a:p>
            <a:pPr marL="0" indent="0" algn="ctr">
              <a:buNone/>
            </a:pPr>
            <a:r>
              <a:rPr lang="en-US" sz="1200" b="1" dirty="0">
                <a:solidFill>
                  <a:srgbClr val="6FAE8B"/>
                </a:solidFill>
              </a:rPr>
              <a:t>↓</a:t>
            </a:r>
            <a:endParaRPr lang="en-US" sz="1200" dirty="0"/>
          </a:p>
        </p:txBody>
      </p:sp>
      <p:sp>
        <p:nvSpPr>
          <p:cNvPr id="11" name="Shape 9"/>
          <p:cNvSpPr/>
          <p:nvPr/>
        </p:nvSpPr>
        <p:spPr>
          <a:xfrm>
            <a:off x="5989320" y="2016252"/>
            <a:ext cx="5650992" cy="475488"/>
          </a:xfrm>
          <a:prstGeom prst="roundRect">
            <a:avLst>
              <a:gd name="adj" fmla="val 50000"/>
            </a:avLst>
          </a:prstGeom>
          <a:solidFill>
            <a:srgbClr val="EAF3EE"/>
          </a:solidFill>
          <a:ln w="9525">
            <a:solidFill>
              <a:srgbClr val="D8E4DE"/>
            </a:solidFill>
            <a:prstDash val="solid"/>
          </a:ln>
        </p:spPr>
        <p:txBody>
          <a:bodyPr/>
          <a:lstStyle/>
          <a:p>
            <a:endParaRPr lang="en-ID"/>
          </a:p>
        </p:txBody>
      </p:sp>
      <p:sp>
        <p:nvSpPr>
          <p:cNvPr id="12" name="Text 10"/>
          <p:cNvSpPr/>
          <p:nvPr/>
        </p:nvSpPr>
        <p:spPr>
          <a:xfrm>
            <a:off x="5989320" y="2016252"/>
            <a:ext cx="5650992" cy="475488"/>
          </a:xfrm>
          <a:prstGeom prst="rect">
            <a:avLst/>
          </a:prstGeom>
          <a:noFill/>
          <a:ln/>
        </p:spPr>
        <p:txBody>
          <a:bodyPr wrap="square" rtlCol="0" anchor="ctr"/>
          <a:lstStyle/>
          <a:p>
            <a:pPr marL="0" indent="0" algn="ctr">
              <a:buNone/>
            </a:pPr>
            <a:r>
              <a:rPr lang="en-US" sz="1250" b="1" dirty="0">
                <a:solidFill>
                  <a:srgbClr val="132720"/>
                </a:solidFill>
                <a:latin typeface="Calibri" pitchFamily="34" charset="0"/>
                <a:ea typeface="Calibri" pitchFamily="34" charset="-122"/>
                <a:cs typeface="Calibri" pitchFamily="34" charset="-120"/>
              </a:rPr>
              <a:t>Power Query</a:t>
            </a:r>
            <a:endParaRPr lang="en-US" sz="1250" dirty="0"/>
          </a:p>
        </p:txBody>
      </p:sp>
      <p:sp>
        <p:nvSpPr>
          <p:cNvPr id="13" name="Text 11"/>
          <p:cNvSpPr/>
          <p:nvPr/>
        </p:nvSpPr>
        <p:spPr>
          <a:xfrm>
            <a:off x="8641080" y="2473452"/>
            <a:ext cx="365760" cy="169164"/>
          </a:xfrm>
          <a:prstGeom prst="rect">
            <a:avLst/>
          </a:prstGeom>
          <a:noFill/>
          <a:ln/>
        </p:spPr>
        <p:txBody>
          <a:bodyPr wrap="square" rtlCol="0" anchor="ctr"/>
          <a:lstStyle/>
          <a:p>
            <a:pPr marL="0" indent="0" algn="ctr">
              <a:buNone/>
            </a:pPr>
            <a:r>
              <a:rPr lang="en-US" sz="1200" b="1" dirty="0">
                <a:solidFill>
                  <a:srgbClr val="6FAE8B"/>
                </a:solidFill>
              </a:rPr>
              <a:t>↓</a:t>
            </a:r>
            <a:endParaRPr lang="en-US" sz="1200" dirty="0"/>
          </a:p>
        </p:txBody>
      </p:sp>
      <p:sp>
        <p:nvSpPr>
          <p:cNvPr id="14" name="Shape 12"/>
          <p:cNvSpPr/>
          <p:nvPr/>
        </p:nvSpPr>
        <p:spPr>
          <a:xfrm>
            <a:off x="5989320" y="2615184"/>
            <a:ext cx="5650992" cy="475488"/>
          </a:xfrm>
          <a:prstGeom prst="roundRect">
            <a:avLst>
              <a:gd name="adj" fmla="val 50000"/>
            </a:avLst>
          </a:prstGeom>
          <a:solidFill>
            <a:srgbClr val="EAF3EE"/>
          </a:solidFill>
          <a:ln w="9525">
            <a:solidFill>
              <a:srgbClr val="D8E4DE"/>
            </a:solidFill>
            <a:prstDash val="solid"/>
          </a:ln>
        </p:spPr>
        <p:txBody>
          <a:bodyPr/>
          <a:lstStyle/>
          <a:p>
            <a:endParaRPr lang="en-ID"/>
          </a:p>
        </p:txBody>
      </p:sp>
      <p:sp>
        <p:nvSpPr>
          <p:cNvPr id="15" name="Text 13"/>
          <p:cNvSpPr/>
          <p:nvPr/>
        </p:nvSpPr>
        <p:spPr>
          <a:xfrm>
            <a:off x="5989320" y="2615184"/>
            <a:ext cx="5650992" cy="475488"/>
          </a:xfrm>
          <a:prstGeom prst="rect">
            <a:avLst/>
          </a:prstGeom>
          <a:noFill/>
          <a:ln/>
        </p:spPr>
        <p:txBody>
          <a:bodyPr wrap="square" rtlCol="0" anchor="ctr"/>
          <a:lstStyle/>
          <a:p>
            <a:pPr marL="0" indent="0" algn="ctr">
              <a:buNone/>
            </a:pPr>
            <a:r>
              <a:rPr lang="en-US" sz="1250" b="1" dirty="0">
                <a:solidFill>
                  <a:srgbClr val="132720"/>
                </a:solidFill>
                <a:latin typeface="Calibri" pitchFamily="34" charset="0"/>
                <a:ea typeface="Calibri" pitchFamily="34" charset="-122"/>
                <a:cs typeface="Calibri" pitchFamily="34" charset="-120"/>
              </a:rPr>
              <a:t>Data Cleaning</a:t>
            </a:r>
            <a:endParaRPr lang="en-US" sz="1250" dirty="0"/>
          </a:p>
        </p:txBody>
      </p:sp>
      <p:sp>
        <p:nvSpPr>
          <p:cNvPr id="16" name="Text 14"/>
          <p:cNvSpPr/>
          <p:nvPr/>
        </p:nvSpPr>
        <p:spPr>
          <a:xfrm>
            <a:off x="8641080" y="3072384"/>
            <a:ext cx="365760" cy="169164"/>
          </a:xfrm>
          <a:prstGeom prst="rect">
            <a:avLst/>
          </a:prstGeom>
          <a:noFill/>
          <a:ln/>
        </p:spPr>
        <p:txBody>
          <a:bodyPr wrap="square" rtlCol="0" anchor="ctr"/>
          <a:lstStyle/>
          <a:p>
            <a:pPr marL="0" indent="0" algn="ctr">
              <a:buNone/>
            </a:pPr>
            <a:r>
              <a:rPr lang="en-US" sz="1200" b="1" dirty="0">
                <a:solidFill>
                  <a:srgbClr val="6FAE8B"/>
                </a:solidFill>
              </a:rPr>
              <a:t>↓</a:t>
            </a:r>
            <a:endParaRPr lang="en-US" sz="1200" dirty="0"/>
          </a:p>
        </p:txBody>
      </p:sp>
      <p:sp>
        <p:nvSpPr>
          <p:cNvPr id="17" name="Shape 15"/>
          <p:cNvSpPr/>
          <p:nvPr/>
        </p:nvSpPr>
        <p:spPr>
          <a:xfrm>
            <a:off x="5989320" y="3214116"/>
            <a:ext cx="5650992" cy="475488"/>
          </a:xfrm>
          <a:prstGeom prst="roundRect">
            <a:avLst>
              <a:gd name="adj" fmla="val 50000"/>
            </a:avLst>
          </a:prstGeom>
          <a:solidFill>
            <a:srgbClr val="EAF3EE"/>
          </a:solidFill>
          <a:ln w="9525">
            <a:solidFill>
              <a:srgbClr val="D8E4DE"/>
            </a:solidFill>
            <a:prstDash val="solid"/>
          </a:ln>
        </p:spPr>
        <p:txBody>
          <a:bodyPr/>
          <a:lstStyle/>
          <a:p>
            <a:endParaRPr lang="en-ID"/>
          </a:p>
        </p:txBody>
      </p:sp>
      <p:sp>
        <p:nvSpPr>
          <p:cNvPr id="18" name="Text 16"/>
          <p:cNvSpPr/>
          <p:nvPr/>
        </p:nvSpPr>
        <p:spPr>
          <a:xfrm>
            <a:off x="5989320" y="3214116"/>
            <a:ext cx="5650992" cy="475488"/>
          </a:xfrm>
          <a:prstGeom prst="rect">
            <a:avLst/>
          </a:prstGeom>
          <a:noFill/>
          <a:ln/>
        </p:spPr>
        <p:txBody>
          <a:bodyPr wrap="square" rtlCol="0" anchor="ctr"/>
          <a:lstStyle/>
          <a:p>
            <a:pPr marL="0" indent="0" algn="ctr">
              <a:buNone/>
            </a:pPr>
            <a:r>
              <a:rPr lang="en-US" sz="1250" b="1" dirty="0">
                <a:solidFill>
                  <a:srgbClr val="132720"/>
                </a:solidFill>
                <a:latin typeface="Calibri" pitchFamily="34" charset="0"/>
                <a:ea typeface="Calibri" pitchFamily="34" charset="-122"/>
                <a:cs typeface="Calibri" pitchFamily="34" charset="-120"/>
              </a:rPr>
              <a:t>Data Validation</a:t>
            </a:r>
            <a:endParaRPr lang="en-US" sz="1250" dirty="0"/>
          </a:p>
        </p:txBody>
      </p:sp>
      <p:sp>
        <p:nvSpPr>
          <p:cNvPr id="19" name="Text 17"/>
          <p:cNvSpPr/>
          <p:nvPr/>
        </p:nvSpPr>
        <p:spPr>
          <a:xfrm>
            <a:off x="8641080" y="3671316"/>
            <a:ext cx="365760" cy="169164"/>
          </a:xfrm>
          <a:prstGeom prst="rect">
            <a:avLst/>
          </a:prstGeom>
          <a:noFill/>
          <a:ln/>
        </p:spPr>
        <p:txBody>
          <a:bodyPr wrap="square" rtlCol="0" anchor="ctr"/>
          <a:lstStyle/>
          <a:p>
            <a:pPr marL="0" indent="0" algn="ctr">
              <a:buNone/>
            </a:pPr>
            <a:r>
              <a:rPr lang="en-US" sz="1200" b="1" dirty="0">
                <a:solidFill>
                  <a:srgbClr val="6FAE8B"/>
                </a:solidFill>
              </a:rPr>
              <a:t>↓</a:t>
            </a:r>
            <a:endParaRPr lang="en-US" sz="1200" dirty="0"/>
          </a:p>
        </p:txBody>
      </p:sp>
      <p:sp>
        <p:nvSpPr>
          <p:cNvPr id="20" name="Shape 18"/>
          <p:cNvSpPr/>
          <p:nvPr/>
        </p:nvSpPr>
        <p:spPr>
          <a:xfrm>
            <a:off x="5989320" y="3813048"/>
            <a:ext cx="5650992" cy="475488"/>
          </a:xfrm>
          <a:prstGeom prst="roundRect">
            <a:avLst>
              <a:gd name="adj" fmla="val 50000"/>
            </a:avLst>
          </a:prstGeom>
          <a:solidFill>
            <a:srgbClr val="EAF3EE"/>
          </a:solidFill>
          <a:ln w="9525">
            <a:solidFill>
              <a:srgbClr val="D8E4DE"/>
            </a:solidFill>
            <a:prstDash val="solid"/>
          </a:ln>
        </p:spPr>
        <p:txBody>
          <a:bodyPr/>
          <a:lstStyle/>
          <a:p>
            <a:endParaRPr lang="en-ID"/>
          </a:p>
        </p:txBody>
      </p:sp>
      <p:sp>
        <p:nvSpPr>
          <p:cNvPr id="21" name="Text 19"/>
          <p:cNvSpPr/>
          <p:nvPr/>
        </p:nvSpPr>
        <p:spPr>
          <a:xfrm>
            <a:off x="5989320" y="3813048"/>
            <a:ext cx="5650992" cy="475488"/>
          </a:xfrm>
          <a:prstGeom prst="rect">
            <a:avLst/>
          </a:prstGeom>
          <a:noFill/>
          <a:ln/>
        </p:spPr>
        <p:txBody>
          <a:bodyPr wrap="square" rtlCol="0" anchor="ctr"/>
          <a:lstStyle/>
          <a:p>
            <a:pPr marL="0" indent="0" algn="ctr">
              <a:buNone/>
            </a:pPr>
            <a:r>
              <a:rPr lang="en-US" sz="1250" b="1" dirty="0">
                <a:solidFill>
                  <a:srgbClr val="132720"/>
                </a:solidFill>
                <a:latin typeface="Calibri" pitchFamily="34" charset="0"/>
                <a:ea typeface="Calibri" pitchFamily="34" charset="-122"/>
                <a:cs typeface="Calibri" pitchFamily="34" charset="-120"/>
              </a:rPr>
              <a:t>DAX Measures &amp; Calculated Columns</a:t>
            </a:r>
            <a:endParaRPr lang="en-US" sz="1250" dirty="0"/>
          </a:p>
        </p:txBody>
      </p:sp>
      <p:sp>
        <p:nvSpPr>
          <p:cNvPr id="22" name="Text 20"/>
          <p:cNvSpPr/>
          <p:nvPr/>
        </p:nvSpPr>
        <p:spPr>
          <a:xfrm>
            <a:off x="8641080" y="4270248"/>
            <a:ext cx="365760" cy="169164"/>
          </a:xfrm>
          <a:prstGeom prst="rect">
            <a:avLst/>
          </a:prstGeom>
          <a:noFill/>
          <a:ln/>
        </p:spPr>
        <p:txBody>
          <a:bodyPr wrap="square" rtlCol="0" anchor="ctr"/>
          <a:lstStyle/>
          <a:p>
            <a:pPr marL="0" indent="0" algn="ctr">
              <a:buNone/>
            </a:pPr>
            <a:r>
              <a:rPr lang="en-US" sz="1200" b="1" dirty="0">
                <a:solidFill>
                  <a:srgbClr val="6FAE8B"/>
                </a:solidFill>
              </a:rPr>
              <a:t>↓</a:t>
            </a:r>
            <a:endParaRPr lang="en-US" sz="1200" dirty="0"/>
          </a:p>
        </p:txBody>
      </p:sp>
      <p:sp>
        <p:nvSpPr>
          <p:cNvPr id="23" name="Shape 21"/>
          <p:cNvSpPr/>
          <p:nvPr/>
        </p:nvSpPr>
        <p:spPr>
          <a:xfrm>
            <a:off x="5989320" y="4411980"/>
            <a:ext cx="5650992" cy="475488"/>
          </a:xfrm>
          <a:prstGeom prst="roundRect">
            <a:avLst>
              <a:gd name="adj" fmla="val 50000"/>
            </a:avLst>
          </a:prstGeom>
          <a:solidFill>
            <a:srgbClr val="0E3B2E"/>
          </a:solidFill>
          <a:ln/>
        </p:spPr>
        <p:txBody>
          <a:bodyPr/>
          <a:lstStyle/>
          <a:p>
            <a:endParaRPr lang="en-ID"/>
          </a:p>
        </p:txBody>
      </p:sp>
      <p:sp>
        <p:nvSpPr>
          <p:cNvPr id="24" name="Text 22"/>
          <p:cNvSpPr/>
          <p:nvPr/>
        </p:nvSpPr>
        <p:spPr>
          <a:xfrm>
            <a:off x="5989320" y="4411980"/>
            <a:ext cx="5650992" cy="47548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Power BI Dashboard</a:t>
            </a:r>
            <a:endParaRPr lang="en-US" sz="1250" dirty="0"/>
          </a:p>
        </p:txBody>
      </p:sp>
      <p:sp>
        <p:nvSpPr>
          <p:cNvPr id="25" name="Shape 23"/>
          <p:cNvSpPr/>
          <p:nvPr/>
        </p:nvSpPr>
        <p:spPr>
          <a:xfrm>
            <a:off x="548640" y="4892040"/>
            <a:ext cx="11091672" cy="1371600"/>
          </a:xfrm>
          <a:prstGeom prst="roundRect">
            <a:avLst>
              <a:gd name="adj" fmla="val 5333"/>
            </a:avLst>
          </a:prstGeom>
          <a:solidFill>
            <a:srgbClr val="FBF3E3"/>
          </a:solidFill>
          <a:ln w="12700">
            <a:solidFill>
              <a:srgbClr val="C9962C"/>
            </a:solidFill>
            <a:prstDash val="solid"/>
          </a:ln>
        </p:spPr>
        <p:txBody>
          <a:bodyPr/>
          <a:lstStyle/>
          <a:p>
            <a:endParaRPr lang="en-ID"/>
          </a:p>
        </p:txBody>
      </p:sp>
      <p:sp>
        <p:nvSpPr>
          <p:cNvPr id="26" name="Shape 24"/>
          <p:cNvSpPr/>
          <p:nvPr/>
        </p:nvSpPr>
        <p:spPr>
          <a:xfrm>
            <a:off x="804672" y="5120640"/>
            <a:ext cx="457200" cy="457200"/>
          </a:xfrm>
          <a:prstGeom prst="ellipse">
            <a:avLst/>
          </a:prstGeom>
          <a:solidFill>
            <a:srgbClr val="C9962C"/>
          </a:solidFill>
          <a:ln/>
        </p:spPr>
        <p:txBody>
          <a:bodyPr/>
          <a:lstStyle/>
          <a:p>
            <a:endParaRPr lang="en-ID"/>
          </a:p>
        </p:txBody>
      </p:sp>
      <p:sp>
        <p:nvSpPr>
          <p:cNvPr id="27" name="Text 25"/>
          <p:cNvSpPr/>
          <p:nvPr/>
        </p:nvSpPr>
        <p:spPr>
          <a:xfrm>
            <a:off x="804672" y="51206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8" name="Text 26"/>
          <p:cNvSpPr/>
          <p:nvPr/>
        </p:nvSpPr>
        <p:spPr>
          <a:xfrm>
            <a:off x="1463040" y="5056632"/>
            <a:ext cx="9966960" cy="1051560"/>
          </a:xfrm>
          <a:prstGeom prst="rect">
            <a:avLst/>
          </a:prstGeom>
          <a:noFill/>
          <a:ln/>
        </p:spPr>
        <p:txBody>
          <a:bodyPr wrap="square" rtlCol="0" anchor="ctr"/>
          <a:lstStyle/>
          <a:p>
            <a:pPr marL="0" indent="0">
              <a:lnSpc>
                <a:spcPct val="130000"/>
              </a:lnSpc>
              <a:buNone/>
            </a:pPr>
            <a:r>
              <a:rPr lang="en-US" sz="1300" b="1" dirty="0">
                <a:solidFill>
                  <a:srgbClr val="132720"/>
                </a:solidFill>
                <a:latin typeface="Calibri" pitchFamily="34" charset="0"/>
                <a:ea typeface="Calibri" pitchFamily="34" charset="-122"/>
                <a:cs typeface="Calibri" pitchFamily="34" charset="-120"/>
              </a:rPr>
              <a:t>12 vehicle models were flagged for invalid price values and excluded from price-based analysis. </a:t>
            </a:r>
            <a:r>
              <a:rPr lang="en-US" sz="1250" dirty="0">
                <a:solidFill>
                  <a:srgbClr val="5B6B63"/>
                </a:solidFill>
                <a:latin typeface="Calibri" pitchFamily="34" charset="0"/>
                <a:ea typeface="Calibri" pitchFamily="34" charset="-122"/>
                <a:cs typeface="Calibri" pitchFamily="34" charset="-120"/>
              </a:rPr>
              <a:t>Other attributes — such as driving range and battery capacity — were not necessarily affected, so these models still appear in performance-based comparisons.</a:t>
            </a:r>
            <a:endParaRPr lang="en-US" sz="1300" dirty="0"/>
          </a:p>
        </p:txBody>
      </p:sp>
      <p:sp>
        <p:nvSpPr>
          <p:cNvPr id="29" name="Text 27"/>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Dataset &amp; Data Preparation</a:t>
            </a:r>
            <a:endParaRPr lang="en-US" sz="900" dirty="0"/>
          </a:p>
        </p:txBody>
      </p:sp>
      <p:sp>
        <p:nvSpPr>
          <p:cNvPr id="30" name="Text 28"/>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04 — DASHBOARD WALKTHROUGH</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Executive Overview</a:t>
            </a:r>
            <a:endParaRPr lang="en-US" sz="3000" dirty="0"/>
          </a:p>
        </p:txBody>
      </p:sp>
      <p:sp>
        <p:nvSpPr>
          <p:cNvPr id="4" name="Shape 2"/>
          <p:cNvSpPr/>
          <p:nvPr/>
        </p:nvSpPr>
        <p:spPr>
          <a:xfrm>
            <a:off x="548640" y="1371600"/>
            <a:ext cx="7589520" cy="3794760"/>
          </a:xfrm>
          <a:prstGeom prst="roundRect">
            <a:avLst>
              <a:gd name="adj" fmla="val 1928"/>
            </a:avLst>
          </a:prstGeom>
          <a:solidFill>
            <a:srgbClr val="F3F6F4"/>
          </a:solidFill>
          <a:ln w="15875">
            <a:solidFill>
              <a:srgbClr val="6FAE8B"/>
            </a:solidFill>
            <a:prstDash val="dash"/>
          </a:ln>
        </p:spPr>
        <p:txBody>
          <a:bodyPr/>
          <a:lstStyle/>
          <a:p>
            <a:endParaRPr lang="en-ID"/>
          </a:p>
        </p:txBody>
      </p:sp>
      <p:sp>
        <p:nvSpPr>
          <p:cNvPr id="5" name="Text 3"/>
          <p:cNvSpPr/>
          <p:nvPr/>
        </p:nvSpPr>
        <p:spPr>
          <a:xfrm>
            <a:off x="822960" y="2811780"/>
            <a:ext cx="7040880" cy="914400"/>
          </a:xfrm>
          <a:prstGeom prst="rect">
            <a:avLst/>
          </a:prstGeom>
          <a:noFill/>
          <a:ln/>
        </p:spPr>
        <p:txBody>
          <a:bodyPr wrap="square" rtlCol="0" anchor="ctr"/>
          <a:lstStyle/>
          <a:p>
            <a:pPr marL="0" indent="0" algn="ctr">
              <a:lnSpc>
                <a:spcPct val="120000"/>
              </a:lnSpc>
              <a:buNone/>
            </a:pPr>
            <a:r>
              <a:rPr lang="en-US" sz="1300" b="1" dirty="0">
                <a:solidFill>
                  <a:srgbClr val="1F7A6C"/>
                </a:solidFill>
                <a:latin typeface="Calibri" pitchFamily="34" charset="0"/>
                <a:ea typeface="Calibri" pitchFamily="34" charset="-122"/>
                <a:cs typeface="Calibri" pitchFamily="34" charset="-120"/>
              </a:rPr>
              <a:t>📸  SCREENSHOT PLACEHOLDER
</a:t>
            </a:r>
            <a:r>
              <a:rPr lang="en-US" sz="1100" dirty="0">
                <a:solidFill>
                  <a:srgbClr val="5B6B63"/>
                </a:solidFill>
                <a:latin typeface="Calibri" pitchFamily="34" charset="0"/>
                <a:ea typeface="Calibri" pitchFamily="34" charset="-122"/>
                <a:cs typeface="Calibri" pitchFamily="34" charset="-120"/>
              </a:rPr>
              <a:t>Dashboard / Executive Overview page</a:t>
            </a:r>
            <a:endParaRPr lang="en-US" sz="1300" dirty="0"/>
          </a:p>
          <a:p>
            <a:pPr marL="0" indent="0" algn="ctr">
              <a:lnSpc>
                <a:spcPct val="120000"/>
              </a:lnSpc>
              <a:buNone/>
            </a:pPr>
            <a:r>
              <a:rPr lang="en-US" sz="1100" dirty="0">
                <a:solidFill>
                  <a:srgbClr val="5B6B63"/>
                </a:solidFill>
                <a:latin typeface="Calibri" pitchFamily="34" charset="0"/>
                <a:ea typeface="Calibri" pitchFamily="34" charset="-122"/>
                <a:cs typeface="Calibri" pitchFamily="34" charset="-120"/>
              </a:rPr>
              <a:t>Recommended size: 8.3" x 4.15" @ 150 dpi, full-page capture</a:t>
            </a:r>
            <a:endParaRPr lang="en-US" sz="1300" dirty="0"/>
          </a:p>
        </p:txBody>
      </p:sp>
      <p:sp>
        <p:nvSpPr>
          <p:cNvPr id="6" name="Shape 4"/>
          <p:cNvSpPr/>
          <p:nvPr/>
        </p:nvSpPr>
        <p:spPr>
          <a:xfrm>
            <a:off x="8786867" y="1318807"/>
            <a:ext cx="3319272" cy="3794760"/>
          </a:xfrm>
          <a:prstGeom prst="roundRect">
            <a:avLst>
              <a:gd name="adj" fmla="val 2479"/>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7" name="Text 5"/>
          <p:cNvSpPr/>
          <p:nvPr/>
        </p:nvSpPr>
        <p:spPr>
          <a:xfrm>
            <a:off x="9015467" y="1455967"/>
            <a:ext cx="2926080" cy="274320"/>
          </a:xfrm>
          <a:prstGeom prst="rect">
            <a:avLst/>
          </a:prstGeom>
          <a:noFill/>
          <a:ln/>
        </p:spPr>
        <p:txBody>
          <a:bodyPr wrap="square" rtlCol="0" anchor="ctr"/>
          <a:lstStyle/>
          <a:p>
            <a:pPr marL="0" indent="0">
              <a:buNone/>
            </a:pPr>
            <a:r>
              <a:rPr lang="en-US" sz="1050" b="1" kern="0" spc="100" dirty="0">
                <a:solidFill>
                  <a:srgbClr val="1F7A6C"/>
                </a:solidFill>
                <a:latin typeface="Calibri" pitchFamily="34" charset="0"/>
                <a:ea typeface="Calibri" pitchFamily="34" charset="-122"/>
                <a:cs typeface="Calibri" pitchFamily="34" charset="-120"/>
              </a:rPr>
              <a:t>DASHBOARD ELEMENTS</a:t>
            </a:r>
            <a:endParaRPr lang="en-US" sz="1050" dirty="0"/>
          </a:p>
        </p:txBody>
      </p:sp>
      <p:sp>
        <p:nvSpPr>
          <p:cNvPr id="8" name="Text 6"/>
          <p:cNvSpPr/>
          <p:nvPr/>
        </p:nvSpPr>
        <p:spPr>
          <a:xfrm>
            <a:off x="9015467" y="1821727"/>
            <a:ext cx="411480" cy="384048"/>
          </a:xfrm>
          <a:prstGeom prst="rect">
            <a:avLst/>
          </a:prstGeom>
          <a:noFill/>
          <a:ln/>
        </p:spPr>
        <p:txBody>
          <a:bodyPr wrap="square" rtlCol="0" anchor="ctr"/>
          <a:lstStyle/>
          <a:p>
            <a:pPr marL="0" indent="0">
              <a:buNone/>
            </a:pPr>
            <a:r>
              <a:rPr lang="en-US" sz="1600" b="1" dirty="0">
                <a:solidFill>
                  <a:srgbClr val="0E3B2E"/>
                </a:solidFill>
                <a:latin typeface="Cambria" pitchFamily="34" charset="0"/>
                <a:ea typeface="Cambria" pitchFamily="34" charset="-122"/>
                <a:cs typeface="Cambria" pitchFamily="34" charset="-120"/>
              </a:rPr>
              <a:t>①</a:t>
            </a:r>
            <a:endParaRPr lang="en-US" sz="1600" dirty="0"/>
          </a:p>
        </p:txBody>
      </p:sp>
      <p:sp>
        <p:nvSpPr>
          <p:cNvPr id="9" name="Text 7"/>
          <p:cNvSpPr/>
          <p:nvPr/>
        </p:nvSpPr>
        <p:spPr>
          <a:xfrm>
            <a:off x="9426947" y="1821727"/>
            <a:ext cx="2606040" cy="384048"/>
          </a:xfrm>
          <a:prstGeom prst="rect">
            <a:avLst/>
          </a:prstGeom>
          <a:noFill/>
          <a:ln/>
        </p:spPr>
        <p:txBody>
          <a:bodyPr wrap="square" rtlCol="0" anchor="ctr"/>
          <a:lstStyle/>
          <a:p>
            <a:pPr marL="0" indent="0">
              <a:buNone/>
            </a:pPr>
            <a:r>
              <a:rPr lang="en-US" sz="1150" dirty="0">
                <a:solidFill>
                  <a:srgbClr val="132720"/>
                </a:solidFill>
                <a:latin typeface="Calibri" pitchFamily="34" charset="0"/>
                <a:ea typeface="Calibri" pitchFamily="34" charset="-122"/>
                <a:cs typeface="Calibri" pitchFamily="34" charset="-120"/>
              </a:rPr>
              <a:t>KPI Summary</a:t>
            </a:r>
            <a:endParaRPr lang="en-US" sz="1150" dirty="0"/>
          </a:p>
        </p:txBody>
      </p:sp>
      <p:sp>
        <p:nvSpPr>
          <p:cNvPr id="10" name="Text 8"/>
          <p:cNvSpPr/>
          <p:nvPr/>
        </p:nvSpPr>
        <p:spPr>
          <a:xfrm>
            <a:off x="9015467" y="2278927"/>
            <a:ext cx="411480" cy="384048"/>
          </a:xfrm>
          <a:prstGeom prst="rect">
            <a:avLst/>
          </a:prstGeom>
          <a:noFill/>
          <a:ln/>
        </p:spPr>
        <p:txBody>
          <a:bodyPr wrap="square" rtlCol="0" anchor="ctr"/>
          <a:lstStyle/>
          <a:p>
            <a:pPr marL="0" indent="0">
              <a:buNone/>
            </a:pPr>
            <a:r>
              <a:rPr lang="en-US" sz="1600" b="1" dirty="0">
                <a:solidFill>
                  <a:srgbClr val="0E3B2E"/>
                </a:solidFill>
                <a:latin typeface="Cambria" pitchFamily="34" charset="0"/>
                <a:ea typeface="Cambria" pitchFamily="34" charset="-122"/>
                <a:cs typeface="Cambria" pitchFamily="34" charset="-120"/>
              </a:rPr>
              <a:t>②</a:t>
            </a:r>
            <a:endParaRPr lang="en-US" sz="1600" dirty="0"/>
          </a:p>
        </p:txBody>
      </p:sp>
      <p:sp>
        <p:nvSpPr>
          <p:cNvPr id="11" name="Text 9"/>
          <p:cNvSpPr/>
          <p:nvPr/>
        </p:nvSpPr>
        <p:spPr>
          <a:xfrm>
            <a:off x="9426947" y="2278927"/>
            <a:ext cx="2606040" cy="384048"/>
          </a:xfrm>
          <a:prstGeom prst="rect">
            <a:avLst/>
          </a:prstGeom>
          <a:noFill/>
          <a:ln/>
        </p:spPr>
        <p:txBody>
          <a:bodyPr wrap="square" rtlCol="0" anchor="ctr"/>
          <a:lstStyle/>
          <a:p>
            <a:pPr marL="0" indent="0">
              <a:buNone/>
            </a:pPr>
            <a:r>
              <a:rPr lang="en-US" sz="1150" dirty="0">
                <a:solidFill>
                  <a:srgbClr val="132720"/>
                </a:solidFill>
                <a:latin typeface="Calibri" pitchFamily="34" charset="0"/>
                <a:ea typeface="Calibri" pitchFamily="34" charset="-122"/>
                <a:cs typeface="Calibri" pitchFamily="34" charset="-120"/>
              </a:rPr>
              <a:t>Price vs Motor Power</a:t>
            </a:r>
            <a:endParaRPr lang="en-US" sz="1150" dirty="0"/>
          </a:p>
        </p:txBody>
      </p:sp>
      <p:sp>
        <p:nvSpPr>
          <p:cNvPr id="12" name="Text 10"/>
          <p:cNvSpPr/>
          <p:nvPr/>
        </p:nvSpPr>
        <p:spPr>
          <a:xfrm>
            <a:off x="9015467" y="2736127"/>
            <a:ext cx="411480" cy="384048"/>
          </a:xfrm>
          <a:prstGeom prst="rect">
            <a:avLst/>
          </a:prstGeom>
          <a:noFill/>
          <a:ln/>
        </p:spPr>
        <p:txBody>
          <a:bodyPr wrap="square" rtlCol="0" anchor="ctr"/>
          <a:lstStyle/>
          <a:p>
            <a:pPr marL="0" indent="0">
              <a:buNone/>
            </a:pPr>
            <a:r>
              <a:rPr lang="en-US" sz="1600" b="1" dirty="0">
                <a:solidFill>
                  <a:srgbClr val="0E3B2E"/>
                </a:solidFill>
                <a:latin typeface="Cambria" pitchFamily="34" charset="0"/>
                <a:ea typeface="Cambria" pitchFamily="34" charset="-122"/>
                <a:cs typeface="Cambria" pitchFamily="34" charset="-120"/>
              </a:rPr>
              <a:t>③</a:t>
            </a:r>
            <a:endParaRPr lang="en-US" sz="1600" dirty="0"/>
          </a:p>
        </p:txBody>
      </p:sp>
      <p:sp>
        <p:nvSpPr>
          <p:cNvPr id="13" name="Text 11"/>
          <p:cNvSpPr/>
          <p:nvPr/>
        </p:nvSpPr>
        <p:spPr>
          <a:xfrm>
            <a:off x="9426947" y="2736127"/>
            <a:ext cx="2606040" cy="384048"/>
          </a:xfrm>
          <a:prstGeom prst="rect">
            <a:avLst/>
          </a:prstGeom>
          <a:noFill/>
          <a:ln/>
        </p:spPr>
        <p:txBody>
          <a:bodyPr wrap="square" rtlCol="0" anchor="ctr"/>
          <a:lstStyle/>
          <a:p>
            <a:pPr marL="0" indent="0">
              <a:buNone/>
            </a:pPr>
            <a:r>
              <a:rPr lang="en-US" sz="1150" dirty="0">
                <a:solidFill>
                  <a:srgbClr val="132720"/>
                </a:solidFill>
                <a:latin typeface="Calibri" pitchFamily="34" charset="0"/>
                <a:ea typeface="Calibri" pitchFamily="34" charset="-122"/>
                <a:cs typeface="Calibri" pitchFamily="34" charset="-120"/>
              </a:rPr>
              <a:t>Battery vs Driving Range</a:t>
            </a:r>
            <a:endParaRPr lang="en-US" sz="1150" dirty="0"/>
          </a:p>
        </p:txBody>
      </p:sp>
      <p:sp>
        <p:nvSpPr>
          <p:cNvPr id="14" name="Text 12"/>
          <p:cNvSpPr/>
          <p:nvPr/>
        </p:nvSpPr>
        <p:spPr>
          <a:xfrm>
            <a:off x="9015467" y="3193327"/>
            <a:ext cx="411480" cy="384048"/>
          </a:xfrm>
          <a:prstGeom prst="rect">
            <a:avLst/>
          </a:prstGeom>
          <a:noFill/>
          <a:ln/>
        </p:spPr>
        <p:txBody>
          <a:bodyPr wrap="square" rtlCol="0" anchor="ctr"/>
          <a:lstStyle/>
          <a:p>
            <a:pPr marL="0" indent="0">
              <a:buNone/>
            </a:pPr>
            <a:r>
              <a:rPr lang="en-US" sz="1600" b="1" dirty="0">
                <a:solidFill>
                  <a:srgbClr val="0E3B2E"/>
                </a:solidFill>
                <a:latin typeface="Cambria" pitchFamily="34" charset="0"/>
                <a:ea typeface="Cambria" pitchFamily="34" charset="-122"/>
                <a:cs typeface="Cambria" pitchFamily="34" charset="-120"/>
              </a:rPr>
              <a:t>④</a:t>
            </a:r>
            <a:endParaRPr lang="en-US" sz="1600" dirty="0"/>
          </a:p>
        </p:txBody>
      </p:sp>
      <p:sp>
        <p:nvSpPr>
          <p:cNvPr id="15" name="Text 13"/>
          <p:cNvSpPr/>
          <p:nvPr/>
        </p:nvSpPr>
        <p:spPr>
          <a:xfrm>
            <a:off x="9426947" y="3193327"/>
            <a:ext cx="2606040" cy="384048"/>
          </a:xfrm>
          <a:prstGeom prst="rect">
            <a:avLst/>
          </a:prstGeom>
          <a:noFill/>
          <a:ln/>
        </p:spPr>
        <p:txBody>
          <a:bodyPr wrap="square" rtlCol="0" anchor="ctr"/>
          <a:lstStyle/>
          <a:p>
            <a:pPr marL="0" indent="0">
              <a:buNone/>
            </a:pPr>
            <a:r>
              <a:rPr lang="en-US" sz="1150" dirty="0">
                <a:solidFill>
                  <a:srgbClr val="132720"/>
                </a:solidFill>
                <a:latin typeface="Calibri" pitchFamily="34" charset="0"/>
                <a:ea typeface="Calibri" pitchFamily="34" charset="-122"/>
                <a:cs typeface="Calibri" pitchFamily="34" charset="-120"/>
              </a:rPr>
              <a:t>Top 5 Value for Money</a:t>
            </a:r>
            <a:endParaRPr lang="en-US" sz="1150" dirty="0"/>
          </a:p>
        </p:txBody>
      </p:sp>
      <p:sp>
        <p:nvSpPr>
          <p:cNvPr id="16" name="Text 14"/>
          <p:cNvSpPr/>
          <p:nvPr/>
        </p:nvSpPr>
        <p:spPr>
          <a:xfrm>
            <a:off x="9015467" y="3650527"/>
            <a:ext cx="411480" cy="384048"/>
          </a:xfrm>
          <a:prstGeom prst="rect">
            <a:avLst/>
          </a:prstGeom>
          <a:noFill/>
          <a:ln/>
        </p:spPr>
        <p:txBody>
          <a:bodyPr wrap="square" rtlCol="0" anchor="ctr"/>
          <a:lstStyle/>
          <a:p>
            <a:pPr marL="0" indent="0">
              <a:buNone/>
            </a:pPr>
            <a:r>
              <a:rPr lang="en-US" sz="1600" b="1" dirty="0">
                <a:solidFill>
                  <a:srgbClr val="0E3B2E"/>
                </a:solidFill>
                <a:latin typeface="Cambria" pitchFamily="34" charset="0"/>
                <a:ea typeface="Cambria" pitchFamily="34" charset="-122"/>
                <a:cs typeface="Cambria" pitchFamily="34" charset="-120"/>
              </a:rPr>
              <a:t>⑤</a:t>
            </a:r>
            <a:endParaRPr lang="en-US" sz="1600" dirty="0"/>
          </a:p>
        </p:txBody>
      </p:sp>
      <p:sp>
        <p:nvSpPr>
          <p:cNvPr id="17" name="Text 15"/>
          <p:cNvSpPr/>
          <p:nvPr/>
        </p:nvSpPr>
        <p:spPr>
          <a:xfrm>
            <a:off x="9426947" y="3650527"/>
            <a:ext cx="2606040" cy="384048"/>
          </a:xfrm>
          <a:prstGeom prst="rect">
            <a:avLst/>
          </a:prstGeom>
          <a:noFill/>
          <a:ln/>
        </p:spPr>
        <p:txBody>
          <a:bodyPr wrap="square" rtlCol="0" anchor="ctr"/>
          <a:lstStyle/>
          <a:p>
            <a:pPr marL="0" indent="0">
              <a:buNone/>
            </a:pPr>
            <a:r>
              <a:rPr lang="en-US" sz="1150" dirty="0">
                <a:solidFill>
                  <a:srgbClr val="132720"/>
                </a:solidFill>
                <a:latin typeface="Calibri" pitchFamily="34" charset="0"/>
                <a:ea typeface="Calibri" pitchFamily="34" charset="-122"/>
                <a:cs typeface="Calibri" pitchFamily="34" charset="-120"/>
              </a:rPr>
              <a:t>Top 5 Driving Range</a:t>
            </a:r>
            <a:endParaRPr lang="en-US" sz="1150" dirty="0"/>
          </a:p>
        </p:txBody>
      </p:sp>
      <p:sp>
        <p:nvSpPr>
          <p:cNvPr id="18" name="Text 16"/>
          <p:cNvSpPr/>
          <p:nvPr/>
        </p:nvSpPr>
        <p:spPr>
          <a:xfrm>
            <a:off x="9015467" y="4107727"/>
            <a:ext cx="411480" cy="384048"/>
          </a:xfrm>
          <a:prstGeom prst="rect">
            <a:avLst/>
          </a:prstGeom>
          <a:noFill/>
          <a:ln/>
        </p:spPr>
        <p:txBody>
          <a:bodyPr wrap="square" rtlCol="0" anchor="ctr"/>
          <a:lstStyle/>
          <a:p>
            <a:pPr marL="0" indent="0">
              <a:buNone/>
            </a:pPr>
            <a:r>
              <a:rPr lang="en-US" sz="1600" b="1" dirty="0">
                <a:solidFill>
                  <a:srgbClr val="0E3B2E"/>
                </a:solidFill>
                <a:latin typeface="Cambria" pitchFamily="34" charset="0"/>
                <a:ea typeface="Cambria" pitchFamily="34" charset="-122"/>
                <a:cs typeface="Cambria" pitchFamily="34" charset="-120"/>
              </a:rPr>
              <a:t>⑥</a:t>
            </a:r>
            <a:endParaRPr lang="en-US" sz="1600" dirty="0"/>
          </a:p>
        </p:txBody>
      </p:sp>
      <p:sp>
        <p:nvSpPr>
          <p:cNvPr id="19" name="Text 17"/>
          <p:cNvSpPr/>
          <p:nvPr/>
        </p:nvSpPr>
        <p:spPr>
          <a:xfrm>
            <a:off x="9426947" y="4107727"/>
            <a:ext cx="2606040" cy="384048"/>
          </a:xfrm>
          <a:prstGeom prst="rect">
            <a:avLst/>
          </a:prstGeom>
          <a:noFill/>
          <a:ln/>
        </p:spPr>
        <p:txBody>
          <a:bodyPr wrap="square" rtlCol="0" anchor="ctr"/>
          <a:lstStyle/>
          <a:p>
            <a:pPr marL="0" indent="0">
              <a:buNone/>
            </a:pPr>
            <a:r>
              <a:rPr lang="en-US" sz="1150" dirty="0">
                <a:solidFill>
                  <a:srgbClr val="132720"/>
                </a:solidFill>
                <a:latin typeface="Calibri" pitchFamily="34" charset="0"/>
                <a:ea typeface="Calibri" pitchFamily="34" charset="-122"/>
                <a:cs typeface="Calibri" pitchFamily="34" charset="-120"/>
              </a:rPr>
              <a:t>Interactive Filters</a:t>
            </a:r>
            <a:endParaRPr lang="en-US" sz="1150" dirty="0"/>
          </a:p>
        </p:txBody>
      </p:sp>
      <p:sp>
        <p:nvSpPr>
          <p:cNvPr id="20" name="Text 18"/>
          <p:cNvSpPr/>
          <p:nvPr/>
        </p:nvSpPr>
        <p:spPr>
          <a:xfrm>
            <a:off x="9015467" y="4564927"/>
            <a:ext cx="411480" cy="384048"/>
          </a:xfrm>
          <a:prstGeom prst="rect">
            <a:avLst/>
          </a:prstGeom>
          <a:noFill/>
          <a:ln/>
        </p:spPr>
        <p:txBody>
          <a:bodyPr wrap="square" rtlCol="0" anchor="ctr"/>
          <a:lstStyle/>
          <a:p>
            <a:pPr marL="0" indent="0">
              <a:buNone/>
            </a:pPr>
            <a:r>
              <a:rPr lang="en-US" sz="1600" b="1" dirty="0">
                <a:solidFill>
                  <a:srgbClr val="0E3B2E"/>
                </a:solidFill>
                <a:latin typeface="Cambria" pitchFamily="34" charset="0"/>
                <a:ea typeface="Cambria" pitchFamily="34" charset="-122"/>
                <a:cs typeface="Cambria" pitchFamily="34" charset="-120"/>
              </a:rPr>
              <a:t>⑦</a:t>
            </a:r>
            <a:endParaRPr lang="en-US" sz="1600" dirty="0"/>
          </a:p>
        </p:txBody>
      </p:sp>
      <p:sp>
        <p:nvSpPr>
          <p:cNvPr id="21" name="Text 19"/>
          <p:cNvSpPr/>
          <p:nvPr/>
        </p:nvSpPr>
        <p:spPr>
          <a:xfrm>
            <a:off x="9426947" y="4564927"/>
            <a:ext cx="2606040" cy="384048"/>
          </a:xfrm>
          <a:prstGeom prst="rect">
            <a:avLst/>
          </a:prstGeom>
          <a:noFill/>
          <a:ln/>
        </p:spPr>
        <p:txBody>
          <a:bodyPr wrap="square" rtlCol="0" anchor="ctr"/>
          <a:lstStyle/>
          <a:p>
            <a:pPr marL="0" indent="0">
              <a:buNone/>
            </a:pPr>
            <a:r>
              <a:rPr lang="en-US" sz="1150" dirty="0">
                <a:solidFill>
                  <a:srgbClr val="132720"/>
                </a:solidFill>
                <a:latin typeface="Calibri" pitchFamily="34" charset="0"/>
                <a:ea typeface="Calibri" pitchFamily="34" charset="-122"/>
                <a:cs typeface="Calibri" pitchFamily="34" charset="-120"/>
              </a:rPr>
              <a:t>Budget Simulation</a:t>
            </a:r>
            <a:endParaRPr lang="en-US" sz="1150" dirty="0"/>
          </a:p>
        </p:txBody>
      </p:sp>
      <p:sp>
        <p:nvSpPr>
          <p:cNvPr id="22" name="Text 20"/>
          <p:cNvSpPr/>
          <p:nvPr/>
        </p:nvSpPr>
        <p:spPr>
          <a:xfrm>
            <a:off x="548640" y="5349240"/>
            <a:ext cx="4572000" cy="274320"/>
          </a:xfrm>
          <a:prstGeom prst="rect">
            <a:avLst/>
          </a:prstGeom>
          <a:noFill/>
          <a:ln/>
        </p:spPr>
        <p:txBody>
          <a:bodyPr wrap="square" rtlCol="0" anchor="ctr"/>
          <a:lstStyle/>
          <a:p>
            <a:pPr marL="0" indent="0">
              <a:buNone/>
            </a:pPr>
            <a:r>
              <a:rPr lang="en-US" sz="1100" b="1" kern="0" spc="100" dirty="0">
                <a:solidFill>
                  <a:srgbClr val="1F7A6C"/>
                </a:solidFill>
                <a:latin typeface="Calibri" pitchFamily="34" charset="0"/>
                <a:ea typeface="Calibri" pitchFamily="34" charset="-122"/>
                <a:cs typeface="Calibri" pitchFamily="34" charset="-120"/>
              </a:rPr>
              <a:t>KEY TAKEAWAYS</a:t>
            </a:r>
            <a:endParaRPr lang="en-US" sz="1100" dirty="0"/>
          </a:p>
        </p:txBody>
      </p:sp>
      <p:sp>
        <p:nvSpPr>
          <p:cNvPr id="23" name="Text 21"/>
          <p:cNvSpPr/>
          <p:nvPr/>
        </p:nvSpPr>
        <p:spPr>
          <a:xfrm>
            <a:off x="548640" y="5623560"/>
            <a:ext cx="3639312" cy="914400"/>
          </a:xfrm>
          <a:prstGeom prst="rect">
            <a:avLst/>
          </a:prstGeom>
          <a:noFill/>
          <a:ln/>
        </p:spPr>
        <p:txBody>
          <a:bodyPr wrap="square" rtlCol="0" anchor="ctr"/>
          <a:lstStyle/>
          <a:p>
            <a:pPr marL="0" indent="0">
              <a:lnSpc>
                <a:spcPct val="120000"/>
              </a:lnSpc>
              <a:buNone/>
            </a:pPr>
            <a:r>
              <a:rPr lang="en-US" sz="1080" b="1" dirty="0">
                <a:solidFill>
                  <a:srgbClr val="6FAE8B"/>
                </a:solidFill>
                <a:latin typeface="Calibri" pitchFamily="34" charset="0"/>
                <a:ea typeface="Calibri" pitchFamily="34" charset="-122"/>
                <a:cs typeface="Calibri" pitchFamily="34" charset="-120"/>
              </a:rPr>
              <a:t>●  </a:t>
            </a:r>
            <a:r>
              <a:rPr lang="en-US" sz="1080" dirty="0">
                <a:solidFill>
                  <a:srgbClr val="5B6B63"/>
                </a:solidFill>
                <a:latin typeface="Calibri" pitchFamily="34" charset="0"/>
                <a:ea typeface="Calibri" pitchFamily="34" charset="-122"/>
                <a:cs typeface="Calibri" pitchFamily="34" charset="-120"/>
              </a:rPr>
              <a:t>The catalog covers 60 EV models across 30 brands; 48 carry validated pricing used in value and budget analysis.</a:t>
            </a:r>
            <a:endParaRPr lang="en-US" sz="1080" dirty="0"/>
          </a:p>
        </p:txBody>
      </p:sp>
      <p:sp>
        <p:nvSpPr>
          <p:cNvPr id="24" name="Text 22"/>
          <p:cNvSpPr/>
          <p:nvPr/>
        </p:nvSpPr>
        <p:spPr>
          <a:xfrm>
            <a:off x="4325112" y="5623560"/>
            <a:ext cx="3639312" cy="914400"/>
          </a:xfrm>
          <a:prstGeom prst="rect">
            <a:avLst/>
          </a:prstGeom>
          <a:noFill/>
          <a:ln/>
        </p:spPr>
        <p:txBody>
          <a:bodyPr wrap="square" rtlCol="0" anchor="ctr"/>
          <a:lstStyle/>
          <a:p>
            <a:pPr marL="0" indent="0">
              <a:lnSpc>
                <a:spcPct val="120000"/>
              </a:lnSpc>
              <a:buNone/>
            </a:pPr>
            <a:r>
              <a:rPr lang="en-US" sz="1080" b="1" dirty="0">
                <a:solidFill>
                  <a:srgbClr val="6FAE8B"/>
                </a:solidFill>
                <a:latin typeface="Calibri" pitchFamily="34" charset="0"/>
                <a:ea typeface="Calibri" pitchFamily="34" charset="-122"/>
                <a:cs typeface="Calibri" pitchFamily="34" charset="-120"/>
              </a:rPr>
              <a:t>●  </a:t>
            </a:r>
            <a:r>
              <a:rPr lang="en-US" sz="1080" dirty="0">
                <a:solidFill>
                  <a:srgbClr val="5B6B63"/>
                </a:solidFill>
                <a:latin typeface="Calibri" pitchFamily="34" charset="0"/>
                <a:ea typeface="Calibri" pitchFamily="34" charset="-122"/>
                <a:cs typeface="Calibri" pitchFamily="34" charset="-120"/>
              </a:rPr>
              <a:t>Average driving range is ~449 km and average battery capacity ~66 kWh — most catalog EVs already exceed typical daily commuting needs.</a:t>
            </a:r>
            <a:endParaRPr lang="en-US" sz="1080" dirty="0"/>
          </a:p>
        </p:txBody>
      </p:sp>
      <p:sp>
        <p:nvSpPr>
          <p:cNvPr id="25" name="Text 23"/>
          <p:cNvSpPr/>
          <p:nvPr/>
        </p:nvSpPr>
        <p:spPr>
          <a:xfrm>
            <a:off x="8101584" y="5623560"/>
            <a:ext cx="3639312" cy="914400"/>
          </a:xfrm>
          <a:prstGeom prst="rect">
            <a:avLst/>
          </a:prstGeom>
          <a:noFill/>
          <a:ln/>
        </p:spPr>
        <p:txBody>
          <a:bodyPr wrap="square" rtlCol="0" anchor="ctr"/>
          <a:lstStyle/>
          <a:p>
            <a:pPr marL="0" indent="0">
              <a:lnSpc>
                <a:spcPct val="120000"/>
              </a:lnSpc>
              <a:buNone/>
            </a:pPr>
            <a:r>
              <a:rPr lang="en-US" sz="1080" b="1" dirty="0">
                <a:solidFill>
                  <a:srgbClr val="6FAE8B"/>
                </a:solidFill>
                <a:latin typeface="Calibri" pitchFamily="34" charset="0"/>
                <a:ea typeface="Calibri" pitchFamily="34" charset="-122"/>
                <a:cs typeface="Calibri" pitchFamily="34" charset="-120"/>
              </a:rPr>
              <a:t>●  </a:t>
            </a:r>
            <a:r>
              <a:rPr lang="en-US" sz="1080" dirty="0">
                <a:solidFill>
                  <a:srgbClr val="5B6B63"/>
                </a:solidFill>
                <a:latin typeface="Calibri" pitchFamily="34" charset="0"/>
                <a:ea typeface="Calibri" pitchFamily="34" charset="-122"/>
                <a:cs typeface="Calibri" pitchFamily="34" charset="-120"/>
              </a:rPr>
              <a:t>Changan Lumin leads the Best-Value ranking (score 1.69) while Mercedes-Benz EQS leads Longest Range (770 km) — the two rankings favor different vehicles, showing price and range don’t scale together.</a:t>
            </a:r>
            <a:endParaRPr lang="en-US" sz="1080" dirty="0"/>
          </a:p>
        </p:txBody>
      </p:sp>
      <p:sp>
        <p:nvSpPr>
          <p:cNvPr id="26" name="Text 24"/>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Dashboard Walkthrough — Executive Overview</a:t>
            </a:r>
            <a:endParaRPr lang="en-US" sz="900" dirty="0"/>
          </a:p>
        </p:txBody>
      </p:sp>
      <p:sp>
        <p:nvSpPr>
          <p:cNvPr id="27" name="Text 25"/>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5</a:t>
            </a:r>
            <a:endParaRPr lang="en-US" sz="900" dirty="0"/>
          </a:p>
        </p:txBody>
      </p:sp>
      <p:pic>
        <p:nvPicPr>
          <p:cNvPr id="31" name="Picture 30">
            <a:extLst>
              <a:ext uri="{FF2B5EF4-FFF2-40B4-BE49-F238E27FC236}">
                <a16:creationId xmlns:a16="http://schemas.microsoft.com/office/drawing/2014/main" id="{460ECEA7-567B-CFB4-47AF-E0A925C4E83A}"/>
              </a:ext>
            </a:extLst>
          </p:cNvPr>
          <p:cNvPicPr>
            <a:picLocks noChangeAspect="1"/>
          </p:cNvPicPr>
          <p:nvPr/>
        </p:nvPicPr>
        <p:blipFill>
          <a:blip r:embed="rId3"/>
          <a:stretch>
            <a:fillRect/>
          </a:stretch>
        </p:blipFill>
        <p:spPr>
          <a:xfrm>
            <a:off x="411481" y="1357884"/>
            <a:ext cx="1436369" cy="3822192"/>
          </a:xfrm>
          <a:prstGeom prst="rect">
            <a:avLst/>
          </a:prstGeom>
        </p:spPr>
      </p:pic>
      <p:pic>
        <p:nvPicPr>
          <p:cNvPr id="35" name="Picture 34">
            <a:extLst>
              <a:ext uri="{FF2B5EF4-FFF2-40B4-BE49-F238E27FC236}">
                <a16:creationId xmlns:a16="http://schemas.microsoft.com/office/drawing/2014/main" id="{494B2FF9-F2BB-EFE7-B0C5-C0F3A36722A9}"/>
              </a:ext>
            </a:extLst>
          </p:cNvPr>
          <p:cNvPicPr>
            <a:picLocks noChangeAspect="1"/>
          </p:cNvPicPr>
          <p:nvPr/>
        </p:nvPicPr>
        <p:blipFill>
          <a:blip r:embed="rId4"/>
          <a:stretch>
            <a:fillRect/>
          </a:stretch>
        </p:blipFill>
        <p:spPr>
          <a:xfrm>
            <a:off x="1847850" y="1344168"/>
            <a:ext cx="6427469" cy="382219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05 — MARKET ANALYSIS</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What Does the EV Market Landscape Look Like?</a:t>
            </a:r>
            <a:endParaRPr lang="en-US" sz="3000" dirty="0"/>
          </a:p>
        </p:txBody>
      </p:sp>
      <p:sp>
        <p:nvSpPr>
          <p:cNvPr id="4" name="Shape 2"/>
          <p:cNvSpPr/>
          <p:nvPr/>
        </p:nvSpPr>
        <p:spPr>
          <a:xfrm>
            <a:off x="548640" y="1371600"/>
            <a:ext cx="5212080" cy="2834640"/>
          </a:xfrm>
          <a:prstGeom prst="roundRect">
            <a:avLst>
              <a:gd name="adj" fmla="val 2581"/>
            </a:avLst>
          </a:prstGeom>
          <a:solidFill>
            <a:srgbClr val="F3F6F4"/>
          </a:solidFill>
          <a:ln w="15875">
            <a:solidFill>
              <a:srgbClr val="6FAE8B"/>
            </a:solidFill>
            <a:prstDash val="dash"/>
          </a:ln>
        </p:spPr>
        <p:txBody>
          <a:bodyPr/>
          <a:lstStyle/>
          <a:p>
            <a:endParaRPr lang="en-ID"/>
          </a:p>
        </p:txBody>
      </p:sp>
      <p:sp>
        <p:nvSpPr>
          <p:cNvPr id="5" name="Text 3"/>
          <p:cNvSpPr/>
          <p:nvPr/>
        </p:nvSpPr>
        <p:spPr>
          <a:xfrm>
            <a:off x="822960" y="2331720"/>
            <a:ext cx="4663440" cy="914400"/>
          </a:xfrm>
          <a:prstGeom prst="rect">
            <a:avLst/>
          </a:prstGeom>
          <a:noFill/>
          <a:ln/>
        </p:spPr>
        <p:txBody>
          <a:bodyPr wrap="square" rtlCol="0" anchor="ctr"/>
          <a:lstStyle/>
          <a:p>
            <a:pPr marL="0" indent="0" algn="ctr">
              <a:lnSpc>
                <a:spcPct val="120000"/>
              </a:lnSpc>
              <a:buNone/>
            </a:pPr>
            <a:r>
              <a:rPr lang="en-US" sz="1300" b="1" dirty="0">
                <a:solidFill>
                  <a:srgbClr val="1F7A6C"/>
                </a:solidFill>
                <a:latin typeface="Calibri" pitchFamily="34" charset="0"/>
                <a:ea typeface="Calibri" pitchFamily="34" charset="-122"/>
                <a:cs typeface="Calibri" pitchFamily="34" charset="-120"/>
              </a:rPr>
              <a:t>📸  SCREENSHOT PLACEHOLDER
</a:t>
            </a:r>
            <a:r>
              <a:rPr lang="en-US" sz="1100" dirty="0">
                <a:solidFill>
                  <a:srgbClr val="5B6B63"/>
                </a:solidFill>
                <a:latin typeface="Calibri" pitchFamily="34" charset="0"/>
                <a:ea typeface="Calibri" pitchFamily="34" charset="-122"/>
                <a:cs typeface="Calibri" pitchFamily="34" charset="-120"/>
              </a:rPr>
              <a:t>Market Analysis page</a:t>
            </a:r>
            <a:endParaRPr lang="en-US" sz="1300" dirty="0"/>
          </a:p>
          <a:p>
            <a:pPr marL="0" indent="0" algn="ctr">
              <a:lnSpc>
                <a:spcPct val="120000"/>
              </a:lnSpc>
              <a:buNone/>
            </a:pPr>
            <a:r>
              <a:rPr lang="en-US" sz="1100" dirty="0">
                <a:solidFill>
                  <a:srgbClr val="5B6B63"/>
                </a:solidFill>
                <a:latin typeface="Calibri" pitchFamily="34" charset="0"/>
                <a:ea typeface="Calibri" pitchFamily="34" charset="-122"/>
                <a:cs typeface="Calibri" pitchFamily="34" charset="-120"/>
              </a:rPr>
              <a:t>Recommended size: 5.7" x 3.1" @ 150 dpi</a:t>
            </a:r>
            <a:endParaRPr lang="en-US" sz="1300" dirty="0"/>
          </a:p>
        </p:txBody>
      </p:sp>
      <p:graphicFrame>
        <p:nvGraphicFramePr>
          <p:cNvPr id="6" name="Chart 0"/>
          <p:cNvGraphicFramePr/>
          <p:nvPr/>
        </p:nvGraphicFramePr>
        <p:xfrm>
          <a:off x="5989320" y="1371600"/>
          <a:ext cx="5650992"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548640" y="4389120"/>
            <a:ext cx="11091672" cy="1051560"/>
          </a:xfrm>
          <a:prstGeom prst="roundRect">
            <a:avLst>
              <a:gd name="adj" fmla="val 6087"/>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8" name="Text 5"/>
          <p:cNvSpPr/>
          <p:nvPr/>
        </p:nvSpPr>
        <p:spPr>
          <a:xfrm>
            <a:off x="777240" y="4480560"/>
            <a:ext cx="10607040" cy="868680"/>
          </a:xfrm>
          <a:prstGeom prst="rect">
            <a:avLst/>
          </a:prstGeom>
          <a:noFill/>
          <a:ln/>
        </p:spPr>
        <p:txBody>
          <a:bodyPr wrap="square" rtlCol="0" anchor="ctr"/>
          <a:lstStyle/>
          <a:p>
            <a:pPr marL="0" indent="0">
              <a:lnSpc>
                <a:spcPct val="120000"/>
              </a:lnSpc>
              <a:buNone/>
            </a:pPr>
            <a:r>
              <a:rPr lang="en-US" sz="1000" b="1" dirty="0">
                <a:solidFill>
                  <a:srgbClr val="1F7A6C"/>
                </a:solidFill>
                <a:latin typeface="Calibri" pitchFamily="34" charset="0"/>
                <a:ea typeface="Calibri" pitchFamily="34" charset="-122"/>
                <a:cs typeface="Calibri" pitchFamily="34" charset="-120"/>
              </a:rPr>
              <a:t>FINDING  </a:t>
            </a:r>
            <a:r>
              <a:rPr lang="en-US" sz="1250" b="1" dirty="0">
                <a:solidFill>
                  <a:srgbClr val="132720"/>
                </a:solidFill>
                <a:latin typeface="Calibri" pitchFamily="34" charset="0"/>
                <a:ea typeface="Calibri" pitchFamily="34" charset="-122"/>
                <a:cs typeface="Calibri" pitchFamily="34" charset="-120"/>
              </a:rPr>
              <a:t>EV models cluster into three price tiers, skewed toward Premium.
</a:t>
            </a:r>
            <a:r>
              <a:rPr lang="en-US" sz="1080" b="1" dirty="0">
                <a:solidFill>
                  <a:srgbClr val="5B6B63"/>
                </a:solidFill>
                <a:latin typeface="Calibri" pitchFamily="34" charset="0"/>
                <a:ea typeface="Calibri" pitchFamily="34" charset="-122"/>
                <a:cs typeface="Calibri" pitchFamily="34" charset="-120"/>
              </a:rPr>
              <a:t>Evidence: </a:t>
            </a:r>
            <a:r>
              <a:rPr lang="en-US" sz="1080" dirty="0">
                <a:solidFill>
                  <a:srgbClr val="5B6B63"/>
                </a:solidFill>
                <a:latin typeface="Calibri" pitchFamily="34" charset="0"/>
                <a:ea typeface="Calibri" pitchFamily="34" charset="-122"/>
                <a:cs typeface="Calibri" pitchFamily="34" charset="-120"/>
              </a:rPr>
              <a:t>Premium (&gt;600M): 23 models (48%) · Mid (300–600M): 21 (44%) · Entry (&lt;300M): 4 (8%) — of 48 validly priced models.   </a:t>
            </a:r>
            <a:r>
              <a:rPr lang="en-US" sz="1080" b="1" dirty="0">
                <a:solidFill>
                  <a:srgbClr val="5B6B63"/>
                </a:solidFill>
                <a:latin typeface="Calibri" pitchFamily="34" charset="0"/>
                <a:ea typeface="Calibri" pitchFamily="34" charset="-122"/>
                <a:cs typeface="Calibri" pitchFamily="34" charset="-120"/>
              </a:rPr>
              <a:t>Implication: </a:t>
            </a:r>
            <a:r>
              <a:rPr lang="en-US" sz="1080" dirty="0">
                <a:solidFill>
                  <a:srgbClr val="5B6B63"/>
                </a:solidFill>
                <a:latin typeface="Calibri" pitchFamily="34" charset="0"/>
                <a:ea typeface="Calibri" pitchFamily="34" charset="-122"/>
                <a:cs typeface="Calibri" pitchFamily="34" charset="-120"/>
              </a:rPr>
              <a:t>The catalog is currently dominated by upper-tier imports; affordable options remain scarce for mass-market adoption.</a:t>
            </a:r>
            <a:endParaRPr lang="en-US" sz="1000" dirty="0"/>
          </a:p>
        </p:txBody>
      </p:sp>
      <p:sp>
        <p:nvSpPr>
          <p:cNvPr id="9" name="Shape 6"/>
          <p:cNvSpPr/>
          <p:nvPr/>
        </p:nvSpPr>
        <p:spPr>
          <a:xfrm>
            <a:off x="548640" y="5550408"/>
            <a:ext cx="11091672" cy="1051560"/>
          </a:xfrm>
          <a:prstGeom prst="roundRect">
            <a:avLst>
              <a:gd name="adj" fmla="val 6087"/>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0" name="Text 7"/>
          <p:cNvSpPr/>
          <p:nvPr/>
        </p:nvSpPr>
        <p:spPr>
          <a:xfrm>
            <a:off x="777240" y="5641848"/>
            <a:ext cx="10607040" cy="868680"/>
          </a:xfrm>
          <a:prstGeom prst="rect">
            <a:avLst/>
          </a:prstGeom>
          <a:noFill/>
          <a:ln/>
        </p:spPr>
        <p:txBody>
          <a:bodyPr wrap="square" rtlCol="0" anchor="ctr"/>
          <a:lstStyle/>
          <a:p>
            <a:pPr marL="0" indent="0">
              <a:lnSpc>
                <a:spcPct val="120000"/>
              </a:lnSpc>
              <a:buNone/>
            </a:pPr>
            <a:r>
              <a:rPr lang="en-US" sz="1000" b="1" dirty="0">
                <a:solidFill>
                  <a:srgbClr val="1F7A6C"/>
                </a:solidFill>
                <a:latin typeface="Calibri" pitchFamily="34" charset="0"/>
                <a:ea typeface="Calibri" pitchFamily="34" charset="-122"/>
                <a:cs typeface="Calibri" pitchFamily="34" charset="-120"/>
              </a:rPr>
              <a:t>FINDING  </a:t>
            </a:r>
            <a:r>
              <a:rPr lang="en-US" sz="1250" b="1" dirty="0">
                <a:solidFill>
                  <a:srgbClr val="132720"/>
                </a:solidFill>
                <a:latin typeface="Calibri" pitchFamily="34" charset="0"/>
                <a:ea typeface="Calibri" pitchFamily="34" charset="-122"/>
                <a:cs typeface="Calibri" pitchFamily="34" charset="-120"/>
              </a:rPr>
              <a:t>Charging speed varies widely across the catalog.
</a:t>
            </a:r>
            <a:r>
              <a:rPr lang="en-US" sz="1080" b="1" dirty="0">
                <a:solidFill>
                  <a:srgbClr val="5B6B63"/>
                </a:solidFill>
                <a:latin typeface="Calibri" pitchFamily="34" charset="0"/>
                <a:ea typeface="Calibri" pitchFamily="34" charset="-122"/>
                <a:cs typeface="Calibri" pitchFamily="34" charset="-120"/>
              </a:rPr>
              <a:t>Evidence: </a:t>
            </a:r>
            <a:r>
              <a:rPr lang="en-US" sz="1080" dirty="0">
                <a:solidFill>
                  <a:srgbClr val="5B6B63"/>
                </a:solidFill>
                <a:latin typeface="Calibri" pitchFamily="34" charset="0"/>
                <a:ea typeface="Calibri" pitchFamily="34" charset="-122"/>
                <a:cs typeface="Calibri" pitchFamily="34" charset="-120"/>
              </a:rPr>
              <a:t>34 models charge in 30–60 min, 18 in under 30 min — but 5 models take over 120 minutes (up to 600 min).   </a:t>
            </a:r>
            <a:r>
              <a:rPr lang="en-US" sz="1080" b="1" dirty="0">
                <a:solidFill>
                  <a:srgbClr val="5B6B63"/>
                </a:solidFill>
                <a:latin typeface="Calibri" pitchFamily="34" charset="0"/>
                <a:ea typeface="Calibri" pitchFamily="34" charset="-122"/>
                <a:cs typeface="Calibri" pitchFamily="34" charset="-120"/>
              </a:rPr>
              <a:t>Implication: </a:t>
            </a:r>
            <a:r>
              <a:rPr lang="en-US" sz="1080" dirty="0">
                <a:solidFill>
                  <a:srgbClr val="5B6B63"/>
                </a:solidFill>
                <a:latin typeface="Calibri" pitchFamily="34" charset="0"/>
                <a:ea typeface="Calibri" pitchFamily="34" charset="-122"/>
                <a:cs typeface="Calibri" pitchFamily="34" charset="-120"/>
              </a:rPr>
              <a:t>Charging time is a major differentiator and should be treated as a primary comparison filter, not a secondary spec.</a:t>
            </a:r>
            <a:endParaRPr lang="en-US" sz="1000" dirty="0"/>
          </a:p>
        </p:txBody>
      </p:sp>
      <p:sp>
        <p:nvSpPr>
          <p:cNvPr id="11" name="Text 8"/>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Market Analysis</a:t>
            </a:r>
            <a:endParaRPr lang="en-US" sz="900" dirty="0"/>
          </a:p>
        </p:txBody>
      </p:sp>
      <p:sp>
        <p:nvSpPr>
          <p:cNvPr id="12" name="Text 9"/>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6</a:t>
            </a:r>
            <a:endParaRPr lang="en-US" sz="900" dirty="0"/>
          </a:p>
        </p:txBody>
      </p:sp>
      <p:pic>
        <p:nvPicPr>
          <p:cNvPr id="14" name="Picture 13">
            <a:extLst>
              <a:ext uri="{FF2B5EF4-FFF2-40B4-BE49-F238E27FC236}">
                <a16:creationId xmlns:a16="http://schemas.microsoft.com/office/drawing/2014/main" id="{DD0E5D33-36A8-AF66-394A-9A697F957CF9}"/>
              </a:ext>
            </a:extLst>
          </p:cNvPr>
          <p:cNvPicPr>
            <a:picLocks noChangeAspect="1"/>
          </p:cNvPicPr>
          <p:nvPr/>
        </p:nvPicPr>
        <p:blipFill>
          <a:blip r:embed="rId4"/>
          <a:stretch>
            <a:fillRect/>
          </a:stretch>
        </p:blipFill>
        <p:spPr>
          <a:xfrm>
            <a:off x="548640" y="1329182"/>
            <a:ext cx="5325466" cy="286753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06 — VEHICLE ANALYSIS</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Which EV Models Stand Out?</a:t>
            </a:r>
            <a:endParaRPr lang="en-US" sz="3000" dirty="0"/>
          </a:p>
        </p:txBody>
      </p:sp>
      <p:sp>
        <p:nvSpPr>
          <p:cNvPr id="4" name="Shape 2"/>
          <p:cNvSpPr/>
          <p:nvPr/>
        </p:nvSpPr>
        <p:spPr>
          <a:xfrm>
            <a:off x="548640" y="1371600"/>
            <a:ext cx="5212080" cy="3017520"/>
          </a:xfrm>
          <a:prstGeom prst="roundRect">
            <a:avLst>
              <a:gd name="adj" fmla="val 2424"/>
            </a:avLst>
          </a:prstGeom>
          <a:solidFill>
            <a:srgbClr val="F3F6F4"/>
          </a:solidFill>
          <a:ln w="15875">
            <a:solidFill>
              <a:srgbClr val="6FAE8B"/>
            </a:solidFill>
            <a:prstDash val="dash"/>
          </a:ln>
        </p:spPr>
        <p:txBody>
          <a:bodyPr/>
          <a:lstStyle/>
          <a:p>
            <a:endParaRPr lang="en-ID"/>
          </a:p>
        </p:txBody>
      </p:sp>
      <p:sp>
        <p:nvSpPr>
          <p:cNvPr id="5" name="Text 3"/>
          <p:cNvSpPr/>
          <p:nvPr/>
        </p:nvSpPr>
        <p:spPr>
          <a:xfrm>
            <a:off x="822960" y="2423160"/>
            <a:ext cx="4663440" cy="914400"/>
          </a:xfrm>
          <a:prstGeom prst="rect">
            <a:avLst/>
          </a:prstGeom>
          <a:noFill/>
          <a:ln/>
        </p:spPr>
        <p:txBody>
          <a:bodyPr wrap="square" rtlCol="0" anchor="ctr"/>
          <a:lstStyle/>
          <a:p>
            <a:pPr marL="0" indent="0" algn="ctr">
              <a:lnSpc>
                <a:spcPct val="120000"/>
              </a:lnSpc>
              <a:buNone/>
            </a:pPr>
            <a:r>
              <a:rPr lang="en-US" sz="1300" b="1" dirty="0">
                <a:solidFill>
                  <a:srgbClr val="1F7A6C"/>
                </a:solidFill>
                <a:latin typeface="Calibri" pitchFamily="34" charset="0"/>
                <a:ea typeface="Calibri" pitchFamily="34" charset="-122"/>
                <a:cs typeface="Calibri" pitchFamily="34" charset="-120"/>
              </a:rPr>
              <a:t>📸  SCREENSHOT PLACEHOLDER
</a:t>
            </a:r>
            <a:r>
              <a:rPr lang="en-US" sz="1100" dirty="0">
                <a:solidFill>
                  <a:srgbClr val="5B6B63"/>
                </a:solidFill>
                <a:latin typeface="Calibri" pitchFamily="34" charset="0"/>
                <a:ea typeface="Calibri" pitchFamily="34" charset="-122"/>
                <a:cs typeface="Calibri" pitchFamily="34" charset="-120"/>
              </a:rPr>
              <a:t>Vehicle Analysis page</a:t>
            </a:r>
            <a:endParaRPr lang="en-US" sz="1300" dirty="0"/>
          </a:p>
          <a:p>
            <a:pPr marL="0" indent="0" algn="ctr">
              <a:lnSpc>
                <a:spcPct val="120000"/>
              </a:lnSpc>
              <a:buNone/>
            </a:pPr>
            <a:r>
              <a:rPr lang="en-US" sz="1100" dirty="0">
                <a:solidFill>
                  <a:srgbClr val="5B6B63"/>
                </a:solidFill>
                <a:latin typeface="Calibri" pitchFamily="34" charset="0"/>
                <a:ea typeface="Calibri" pitchFamily="34" charset="-122"/>
                <a:cs typeface="Calibri" pitchFamily="34" charset="-120"/>
              </a:rPr>
              <a:t>Recommended size: 5.7" x 3.3" @ 150 dpi</a:t>
            </a:r>
            <a:endParaRPr lang="en-US" sz="1300" dirty="0"/>
          </a:p>
        </p:txBody>
      </p:sp>
      <p:graphicFrame>
        <p:nvGraphicFramePr>
          <p:cNvPr id="6" name="Chart 0"/>
          <p:cNvGraphicFramePr/>
          <p:nvPr/>
        </p:nvGraphicFramePr>
        <p:xfrm>
          <a:off x="5989320" y="1371600"/>
          <a:ext cx="5650992"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548640" y="4572000"/>
            <a:ext cx="2697480" cy="1417320"/>
          </a:xfrm>
          <a:prstGeom prst="roundRect">
            <a:avLst>
              <a:gd name="adj" fmla="val 4516"/>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8" name="Text 5"/>
          <p:cNvSpPr/>
          <p:nvPr/>
        </p:nvSpPr>
        <p:spPr>
          <a:xfrm>
            <a:off x="713232" y="4700016"/>
            <a:ext cx="2368296" cy="502920"/>
          </a:xfrm>
          <a:prstGeom prst="rect">
            <a:avLst/>
          </a:prstGeom>
          <a:noFill/>
          <a:ln/>
        </p:spPr>
        <p:txBody>
          <a:bodyPr wrap="square" rtlCol="0" anchor="ctr"/>
          <a:lstStyle/>
          <a:p>
            <a:pPr marL="0" indent="0">
              <a:buNone/>
            </a:pPr>
            <a:r>
              <a:rPr lang="en-US" sz="1150" b="1" dirty="0">
                <a:solidFill>
                  <a:srgbClr val="132720"/>
                </a:solidFill>
                <a:latin typeface="Calibri" pitchFamily="34" charset="0"/>
                <a:ea typeface="Calibri" pitchFamily="34" charset="-122"/>
                <a:cs typeface="Calibri" pitchFamily="34" charset="-120"/>
              </a:rPr>
              <a:t>Top Value: Changan Lumin</a:t>
            </a:r>
            <a:endParaRPr lang="en-US" sz="1150" dirty="0"/>
          </a:p>
        </p:txBody>
      </p:sp>
      <p:sp>
        <p:nvSpPr>
          <p:cNvPr id="9" name="Text 6"/>
          <p:cNvSpPr/>
          <p:nvPr/>
        </p:nvSpPr>
        <p:spPr>
          <a:xfrm>
            <a:off x="713232" y="5138928"/>
            <a:ext cx="2368296" cy="731520"/>
          </a:xfrm>
          <a:prstGeom prst="rect">
            <a:avLst/>
          </a:prstGeom>
          <a:noFill/>
          <a:ln/>
        </p:spPr>
        <p:txBody>
          <a:bodyPr wrap="square" rtlCol="0" anchor="ctr"/>
          <a:lstStyle/>
          <a:p>
            <a:pPr marL="0" indent="0">
              <a:lnSpc>
                <a:spcPct val="118000"/>
              </a:lnSpc>
              <a:buNone/>
            </a:pPr>
            <a:r>
              <a:rPr lang="en-US" sz="980" dirty="0">
                <a:solidFill>
                  <a:srgbClr val="5B6B63"/>
                </a:solidFill>
                <a:latin typeface="Calibri" pitchFamily="34" charset="0"/>
                <a:ea typeface="Calibri" pitchFamily="34" charset="-122"/>
                <a:cs typeface="Calibri" pitchFamily="34" charset="-120"/>
              </a:rPr>
              <a:t>Value Score 1.69 — priced at Rp178 Juta with 301 km range, the highest range-per-rupiah in the catalog. Entry-tier price does not mean low value.</a:t>
            </a:r>
            <a:endParaRPr lang="en-US" sz="980" dirty="0"/>
          </a:p>
        </p:txBody>
      </p:sp>
      <p:sp>
        <p:nvSpPr>
          <p:cNvPr id="10" name="Shape 7"/>
          <p:cNvSpPr/>
          <p:nvPr/>
        </p:nvSpPr>
        <p:spPr>
          <a:xfrm>
            <a:off x="3383280" y="4572000"/>
            <a:ext cx="2697480" cy="1417320"/>
          </a:xfrm>
          <a:prstGeom prst="roundRect">
            <a:avLst>
              <a:gd name="adj" fmla="val 4516"/>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1" name="Text 8"/>
          <p:cNvSpPr/>
          <p:nvPr/>
        </p:nvSpPr>
        <p:spPr>
          <a:xfrm>
            <a:off x="3547872" y="4700016"/>
            <a:ext cx="2368296" cy="502920"/>
          </a:xfrm>
          <a:prstGeom prst="rect">
            <a:avLst/>
          </a:prstGeom>
          <a:noFill/>
          <a:ln/>
        </p:spPr>
        <p:txBody>
          <a:bodyPr wrap="square" rtlCol="0" anchor="ctr"/>
          <a:lstStyle/>
          <a:p>
            <a:pPr marL="0" indent="0">
              <a:buNone/>
            </a:pPr>
            <a:r>
              <a:rPr lang="en-US" sz="1150" b="1" dirty="0">
                <a:solidFill>
                  <a:srgbClr val="132720"/>
                </a:solidFill>
                <a:latin typeface="Calibri" pitchFamily="34" charset="0"/>
                <a:ea typeface="Calibri" pitchFamily="34" charset="-122"/>
                <a:cs typeface="Calibri" pitchFamily="34" charset="-120"/>
              </a:rPr>
              <a:t>Top Range: Mercedes-Benz EQS</a:t>
            </a:r>
            <a:endParaRPr lang="en-US" sz="1150" dirty="0"/>
          </a:p>
        </p:txBody>
      </p:sp>
      <p:sp>
        <p:nvSpPr>
          <p:cNvPr id="12" name="Text 9"/>
          <p:cNvSpPr/>
          <p:nvPr/>
        </p:nvSpPr>
        <p:spPr>
          <a:xfrm>
            <a:off x="3547872" y="5138928"/>
            <a:ext cx="2368296" cy="731520"/>
          </a:xfrm>
          <a:prstGeom prst="rect">
            <a:avLst/>
          </a:prstGeom>
          <a:noFill/>
          <a:ln/>
        </p:spPr>
        <p:txBody>
          <a:bodyPr wrap="square" rtlCol="0" anchor="ctr"/>
          <a:lstStyle/>
          <a:p>
            <a:pPr marL="0" indent="0">
              <a:lnSpc>
                <a:spcPct val="118000"/>
              </a:lnSpc>
              <a:buNone/>
            </a:pPr>
            <a:r>
              <a:rPr lang="en-US" sz="980" dirty="0">
                <a:solidFill>
                  <a:srgbClr val="5B6B63"/>
                </a:solidFill>
                <a:latin typeface="Calibri" pitchFamily="34" charset="0"/>
                <a:ea typeface="Calibri" pitchFamily="34" charset="-122"/>
                <a:cs typeface="Calibri" pitchFamily="34" charset="-120"/>
              </a:rPr>
              <a:t>770 km range, the longest in the catalog — but at a premium price (Rp2,057 Juta). Range leadership currently sits in the premium tier.</a:t>
            </a:r>
            <a:endParaRPr lang="en-US" sz="980" dirty="0"/>
          </a:p>
        </p:txBody>
      </p:sp>
      <p:sp>
        <p:nvSpPr>
          <p:cNvPr id="13" name="Shape 10"/>
          <p:cNvSpPr/>
          <p:nvPr/>
        </p:nvSpPr>
        <p:spPr>
          <a:xfrm>
            <a:off x="6217920" y="4572000"/>
            <a:ext cx="2697480" cy="1417320"/>
          </a:xfrm>
          <a:prstGeom prst="roundRect">
            <a:avLst>
              <a:gd name="adj" fmla="val 4516"/>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4" name="Text 11"/>
          <p:cNvSpPr/>
          <p:nvPr/>
        </p:nvSpPr>
        <p:spPr>
          <a:xfrm>
            <a:off x="6382512" y="4700016"/>
            <a:ext cx="2368296" cy="502920"/>
          </a:xfrm>
          <a:prstGeom prst="rect">
            <a:avLst/>
          </a:prstGeom>
          <a:noFill/>
          <a:ln/>
        </p:spPr>
        <p:txBody>
          <a:bodyPr wrap="square" rtlCol="0" anchor="ctr"/>
          <a:lstStyle/>
          <a:p>
            <a:pPr marL="0" indent="0">
              <a:buNone/>
            </a:pPr>
            <a:r>
              <a:rPr lang="en-US" sz="1150" b="1" dirty="0">
                <a:solidFill>
                  <a:srgbClr val="132720"/>
                </a:solidFill>
                <a:latin typeface="Calibri" pitchFamily="34" charset="0"/>
                <a:ea typeface="Calibri" pitchFamily="34" charset="-122"/>
                <a:cs typeface="Calibri" pitchFamily="34" charset="-120"/>
              </a:rPr>
              <a:t>Power ↔ Range Relationship</a:t>
            </a:r>
            <a:endParaRPr lang="en-US" sz="1150" dirty="0"/>
          </a:p>
        </p:txBody>
      </p:sp>
      <p:sp>
        <p:nvSpPr>
          <p:cNvPr id="15" name="Text 12"/>
          <p:cNvSpPr/>
          <p:nvPr/>
        </p:nvSpPr>
        <p:spPr>
          <a:xfrm>
            <a:off x="6382512" y="5138928"/>
            <a:ext cx="2368296" cy="731520"/>
          </a:xfrm>
          <a:prstGeom prst="rect">
            <a:avLst/>
          </a:prstGeom>
          <a:noFill/>
          <a:ln/>
        </p:spPr>
        <p:txBody>
          <a:bodyPr wrap="square" rtlCol="0" anchor="ctr"/>
          <a:lstStyle/>
          <a:p>
            <a:pPr marL="0" indent="0">
              <a:lnSpc>
                <a:spcPct val="118000"/>
              </a:lnSpc>
              <a:buNone/>
            </a:pPr>
            <a:r>
              <a:rPr lang="en-US" sz="980" dirty="0">
                <a:solidFill>
                  <a:srgbClr val="5B6B63"/>
                </a:solidFill>
                <a:latin typeface="Calibri" pitchFamily="34" charset="0"/>
                <a:ea typeface="Calibri" pitchFamily="34" charset="-122"/>
                <a:cs typeface="Calibri" pitchFamily="34" charset="-120"/>
              </a:rPr>
              <a:t>Motor power and driving range show a moderate-to-strong correlation (r = 0.68) across all 60 models — higher-power EVs tend to also offer longer range.</a:t>
            </a:r>
            <a:endParaRPr lang="en-US" sz="980" dirty="0"/>
          </a:p>
        </p:txBody>
      </p:sp>
      <p:sp>
        <p:nvSpPr>
          <p:cNvPr id="16" name="Shape 13"/>
          <p:cNvSpPr/>
          <p:nvPr/>
        </p:nvSpPr>
        <p:spPr>
          <a:xfrm>
            <a:off x="9052560" y="4572000"/>
            <a:ext cx="2697480" cy="1417320"/>
          </a:xfrm>
          <a:prstGeom prst="roundRect">
            <a:avLst>
              <a:gd name="adj" fmla="val 4516"/>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7" name="Text 14"/>
          <p:cNvSpPr/>
          <p:nvPr/>
        </p:nvSpPr>
        <p:spPr>
          <a:xfrm>
            <a:off x="9217152" y="4700016"/>
            <a:ext cx="2368296" cy="502920"/>
          </a:xfrm>
          <a:prstGeom prst="rect">
            <a:avLst/>
          </a:prstGeom>
          <a:noFill/>
          <a:ln/>
        </p:spPr>
        <p:txBody>
          <a:bodyPr wrap="square" rtlCol="0" anchor="ctr"/>
          <a:lstStyle/>
          <a:p>
            <a:pPr marL="0" indent="0">
              <a:buNone/>
            </a:pPr>
            <a:r>
              <a:rPr lang="en-US" sz="1150" b="1" dirty="0">
                <a:solidFill>
                  <a:srgbClr val="132720"/>
                </a:solidFill>
                <a:latin typeface="Calibri" pitchFamily="34" charset="0"/>
                <a:ea typeface="Calibri" pitchFamily="34" charset="-122"/>
                <a:cs typeface="Calibri" pitchFamily="34" charset="-120"/>
              </a:rPr>
              <a:t>Data-Quality Note</a:t>
            </a:r>
            <a:endParaRPr lang="en-US" sz="1150" dirty="0"/>
          </a:p>
        </p:txBody>
      </p:sp>
      <p:sp>
        <p:nvSpPr>
          <p:cNvPr id="18" name="Text 15"/>
          <p:cNvSpPr/>
          <p:nvPr/>
        </p:nvSpPr>
        <p:spPr>
          <a:xfrm>
            <a:off x="9217152" y="5138928"/>
            <a:ext cx="2368296" cy="731520"/>
          </a:xfrm>
          <a:prstGeom prst="rect">
            <a:avLst/>
          </a:prstGeom>
          <a:noFill/>
          <a:ln/>
        </p:spPr>
        <p:txBody>
          <a:bodyPr wrap="square" rtlCol="0" anchor="ctr"/>
          <a:lstStyle/>
          <a:p>
            <a:pPr marL="0" indent="0">
              <a:lnSpc>
                <a:spcPct val="118000"/>
              </a:lnSpc>
              <a:buNone/>
            </a:pPr>
            <a:r>
              <a:rPr lang="en-US" sz="980" dirty="0">
                <a:solidFill>
                  <a:srgbClr val="5B6B63"/>
                </a:solidFill>
                <a:latin typeface="Calibri" pitchFamily="34" charset="0"/>
                <a:ea typeface="Calibri" pitchFamily="34" charset="-122"/>
                <a:cs typeface="Calibri" pitchFamily="34" charset="-120"/>
              </a:rPr>
              <a:t>2 of the Top-5 longest-range vehicles (BYD Atto 4, BYD Denza Z9 GT) carry flagged price data — usable for range comparison, excluded from value/budget analysis until verified.</a:t>
            </a:r>
            <a:endParaRPr lang="en-US" sz="980" dirty="0"/>
          </a:p>
        </p:txBody>
      </p:sp>
      <p:sp>
        <p:nvSpPr>
          <p:cNvPr id="19" name="Text 16"/>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Vehicle Analysis</a:t>
            </a:r>
            <a:endParaRPr lang="en-US" sz="900" dirty="0"/>
          </a:p>
        </p:txBody>
      </p:sp>
      <p:sp>
        <p:nvSpPr>
          <p:cNvPr id="20" name="Text 17"/>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7</a:t>
            </a:r>
            <a:endParaRPr lang="en-US" sz="900" dirty="0"/>
          </a:p>
        </p:txBody>
      </p:sp>
      <p:pic>
        <p:nvPicPr>
          <p:cNvPr id="28" name="Picture 27">
            <a:extLst>
              <a:ext uri="{FF2B5EF4-FFF2-40B4-BE49-F238E27FC236}">
                <a16:creationId xmlns:a16="http://schemas.microsoft.com/office/drawing/2014/main" id="{EA10D71F-493A-DEDA-B170-0A7461B2532F}"/>
              </a:ext>
            </a:extLst>
          </p:cNvPr>
          <p:cNvPicPr>
            <a:picLocks noChangeAspect="1"/>
          </p:cNvPicPr>
          <p:nvPr/>
        </p:nvPicPr>
        <p:blipFill>
          <a:blip r:embed="rId4"/>
          <a:stretch>
            <a:fillRect/>
          </a:stretch>
        </p:blipFill>
        <p:spPr>
          <a:xfrm>
            <a:off x="406577" y="1312164"/>
            <a:ext cx="5568762" cy="31409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07 — BUDGET SIMULATOR</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Which EV Models Fit a Selected Budget?</a:t>
            </a:r>
            <a:endParaRPr lang="en-US" sz="3000" dirty="0"/>
          </a:p>
        </p:txBody>
      </p:sp>
      <p:sp>
        <p:nvSpPr>
          <p:cNvPr id="4" name="Shape 2"/>
          <p:cNvSpPr/>
          <p:nvPr/>
        </p:nvSpPr>
        <p:spPr>
          <a:xfrm>
            <a:off x="548640" y="1371600"/>
            <a:ext cx="5212080" cy="2331720"/>
          </a:xfrm>
          <a:prstGeom prst="roundRect">
            <a:avLst>
              <a:gd name="adj" fmla="val 3137"/>
            </a:avLst>
          </a:prstGeom>
          <a:solidFill>
            <a:srgbClr val="F3F6F4"/>
          </a:solidFill>
          <a:ln w="15875">
            <a:solidFill>
              <a:srgbClr val="6FAE8B"/>
            </a:solidFill>
            <a:prstDash val="dash"/>
          </a:ln>
        </p:spPr>
        <p:txBody>
          <a:bodyPr/>
          <a:lstStyle/>
          <a:p>
            <a:endParaRPr lang="en-ID"/>
          </a:p>
        </p:txBody>
      </p:sp>
      <p:sp>
        <p:nvSpPr>
          <p:cNvPr id="5" name="Text 3"/>
          <p:cNvSpPr/>
          <p:nvPr/>
        </p:nvSpPr>
        <p:spPr>
          <a:xfrm>
            <a:off x="822960" y="2080260"/>
            <a:ext cx="4663440" cy="914400"/>
          </a:xfrm>
          <a:prstGeom prst="rect">
            <a:avLst/>
          </a:prstGeom>
          <a:noFill/>
          <a:ln/>
        </p:spPr>
        <p:txBody>
          <a:bodyPr wrap="square" rtlCol="0" anchor="ctr"/>
          <a:lstStyle/>
          <a:p>
            <a:pPr marL="0" indent="0" algn="ctr">
              <a:lnSpc>
                <a:spcPct val="120000"/>
              </a:lnSpc>
              <a:buNone/>
            </a:pPr>
            <a:r>
              <a:rPr lang="en-US" sz="1300" b="1" dirty="0">
                <a:solidFill>
                  <a:srgbClr val="1F7A6C"/>
                </a:solidFill>
                <a:latin typeface="Calibri" pitchFamily="34" charset="0"/>
                <a:ea typeface="Calibri" pitchFamily="34" charset="-122"/>
                <a:cs typeface="Calibri" pitchFamily="34" charset="-120"/>
              </a:rPr>
              <a:t>📸  SCREENSHOT PLACEHOLDER
</a:t>
            </a:r>
            <a:r>
              <a:rPr lang="en-US" sz="1100" dirty="0">
                <a:solidFill>
                  <a:srgbClr val="5B6B63"/>
                </a:solidFill>
                <a:latin typeface="Calibri" pitchFamily="34" charset="0"/>
                <a:ea typeface="Calibri" pitchFamily="34" charset="-122"/>
                <a:cs typeface="Calibri" pitchFamily="34" charset="-120"/>
              </a:rPr>
              <a:t>Budget Simulator page</a:t>
            </a:r>
            <a:endParaRPr lang="en-US" sz="1300" dirty="0"/>
          </a:p>
          <a:p>
            <a:pPr marL="0" indent="0" algn="ctr">
              <a:lnSpc>
                <a:spcPct val="120000"/>
              </a:lnSpc>
              <a:buNone/>
            </a:pPr>
            <a:r>
              <a:rPr lang="en-US" sz="1100" dirty="0">
                <a:solidFill>
                  <a:srgbClr val="5B6B63"/>
                </a:solidFill>
                <a:latin typeface="Calibri" pitchFamily="34" charset="0"/>
                <a:ea typeface="Calibri" pitchFamily="34" charset="-122"/>
                <a:cs typeface="Calibri" pitchFamily="34" charset="-120"/>
              </a:rPr>
              <a:t>Recommended size: 5.7" x 2.55" @ 150 dpi</a:t>
            </a:r>
            <a:endParaRPr lang="en-US" sz="1300" dirty="0"/>
          </a:p>
        </p:txBody>
      </p:sp>
      <p:sp>
        <p:nvSpPr>
          <p:cNvPr id="6" name="Shape 4"/>
          <p:cNvSpPr/>
          <p:nvPr/>
        </p:nvSpPr>
        <p:spPr>
          <a:xfrm>
            <a:off x="5989320" y="1463040"/>
            <a:ext cx="1005840" cy="868680"/>
          </a:xfrm>
          <a:prstGeom prst="roundRect">
            <a:avLst>
              <a:gd name="adj" fmla="val 9474"/>
            </a:avLst>
          </a:prstGeom>
          <a:solidFill>
            <a:srgbClr val="EAF3EE"/>
          </a:solidFill>
          <a:ln/>
        </p:spPr>
        <p:txBody>
          <a:bodyPr/>
          <a:lstStyle/>
          <a:p>
            <a:endParaRPr lang="en-ID"/>
          </a:p>
        </p:txBody>
      </p:sp>
      <p:sp>
        <p:nvSpPr>
          <p:cNvPr id="7" name="Text 5"/>
          <p:cNvSpPr/>
          <p:nvPr/>
        </p:nvSpPr>
        <p:spPr>
          <a:xfrm>
            <a:off x="5989320" y="1463040"/>
            <a:ext cx="1005840" cy="868680"/>
          </a:xfrm>
          <a:prstGeom prst="rect">
            <a:avLst/>
          </a:prstGeom>
          <a:noFill/>
          <a:ln/>
        </p:spPr>
        <p:txBody>
          <a:bodyPr wrap="square" rtlCol="0" anchor="ctr"/>
          <a:lstStyle/>
          <a:p>
            <a:pPr marL="0" indent="0" algn="ctr">
              <a:lnSpc>
                <a:spcPct val="105000"/>
              </a:lnSpc>
              <a:buNone/>
            </a:pPr>
            <a:r>
              <a:rPr lang="en-US" sz="900" b="1" dirty="0">
                <a:solidFill>
                  <a:srgbClr val="132720"/>
                </a:solidFill>
                <a:latin typeface="Calibri" pitchFamily="34" charset="0"/>
                <a:ea typeface="Calibri" pitchFamily="34" charset="-122"/>
                <a:cs typeface="Calibri" pitchFamily="34" charset="-120"/>
              </a:rPr>
              <a:t>Selected</a:t>
            </a:r>
            <a:endParaRPr lang="en-US" sz="900" dirty="0"/>
          </a:p>
          <a:p>
            <a:pPr marL="0" indent="0" algn="ctr">
              <a:lnSpc>
                <a:spcPct val="105000"/>
              </a:lnSpc>
              <a:buNone/>
            </a:pPr>
            <a:r>
              <a:rPr lang="en-US" sz="900" b="1" dirty="0">
                <a:solidFill>
                  <a:srgbClr val="132720"/>
                </a:solidFill>
                <a:latin typeface="Calibri" pitchFamily="34" charset="0"/>
                <a:ea typeface="Calibri" pitchFamily="34" charset="-122"/>
                <a:cs typeface="Calibri" pitchFamily="34" charset="-120"/>
              </a:rPr>
              <a:t>Budget</a:t>
            </a:r>
            <a:endParaRPr lang="en-US" sz="900" dirty="0"/>
          </a:p>
        </p:txBody>
      </p:sp>
      <p:sp>
        <p:nvSpPr>
          <p:cNvPr id="8" name="Text 6"/>
          <p:cNvSpPr/>
          <p:nvPr/>
        </p:nvSpPr>
        <p:spPr>
          <a:xfrm>
            <a:off x="6995160" y="1760220"/>
            <a:ext cx="164592" cy="274320"/>
          </a:xfrm>
          <a:prstGeom prst="rect">
            <a:avLst/>
          </a:prstGeom>
          <a:noFill/>
          <a:ln/>
        </p:spPr>
        <p:txBody>
          <a:bodyPr wrap="square" rtlCol="0" anchor="ctr"/>
          <a:lstStyle/>
          <a:p>
            <a:pPr marL="0" indent="0" algn="ctr">
              <a:buNone/>
            </a:pPr>
            <a:r>
              <a:rPr lang="en-US" sz="1200" b="1" dirty="0">
                <a:solidFill>
                  <a:srgbClr val="6FAE8B"/>
                </a:solidFill>
              </a:rPr>
              <a:t>→</a:t>
            </a:r>
            <a:endParaRPr lang="en-US" sz="1200" dirty="0"/>
          </a:p>
        </p:txBody>
      </p:sp>
      <p:sp>
        <p:nvSpPr>
          <p:cNvPr id="9" name="Shape 7"/>
          <p:cNvSpPr/>
          <p:nvPr/>
        </p:nvSpPr>
        <p:spPr>
          <a:xfrm>
            <a:off x="7159752" y="1463040"/>
            <a:ext cx="1005840" cy="868680"/>
          </a:xfrm>
          <a:prstGeom prst="roundRect">
            <a:avLst>
              <a:gd name="adj" fmla="val 9474"/>
            </a:avLst>
          </a:prstGeom>
          <a:solidFill>
            <a:srgbClr val="EAF3EE"/>
          </a:solidFill>
          <a:ln/>
        </p:spPr>
        <p:txBody>
          <a:bodyPr/>
          <a:lstStyle/>
          <a:p>
            <a:endParaRPr lang="en-ID"/>
          </a:p>
        </p:txBody>
      </p:sp>
      <p:sp>
        <p:nvSpPr>
          <p:cNvPr id="10" name="Text 8"/>
          <p:cNvSpPr/>
          <p:nvPr/>
        </p:nvSpPr>
        <p:spPr>
          <a:xfrm>
            <a:off x="7159752" y="1463040"/>
            <a:ext cx="1005840" cy="868680"/>
          </a:xfrm>
          <a:prstGeom prst="rect">
            <a:avLst/>
          </a:prstGeom>
          <a:noFill/>
          <a:ln/>
        </p:spPr>
        <p:txBody>
          <a:bodyPr wrap="square" rtlCol="0" anchor="ctr"/>
          <a:lstStyle/>
          <a:p>
            <a:pPr marL="0" indent="0" algn="ctr">
              <a:lnSpc>
                <a:spcPct val="105000"/>
              </a:lnSpc>
              <a:buNone/>
            </a:pPr>
            <a:r>
              <a:rPr lang="en-US" sz="900" b="1" dirty="0">
                <a:solidFill>
                  <a:srgbClr val="132720"/>
                </a:solidFill>
                <a:latin typeface="Calibri" pitchFamily="34" charset="0"/>
                <a:ea typeface="Calibri" pitchFamily="34" charset="-122"/>
                <a:cs typeface="Calibri" pitchFamily="34" charset="-120"/>
              </a:rPr>
              <a:t>Filter Eligible</a:t>
            </a:r>
            <a:endParaRPr lang="en-US" sz="900" dirty="0"/>
          </a:p>
          <a:p>
            <a:pPr marL="0" indent="0" algn="ctr">
              <a:lnSpc>
                <a:spcPct val="105000"/>
              </a:lnSpc>
              <a:buNone/>
            </a:pPr>
            <a:r>
              <a:rPr lang="en-US" sz="900" b="1" dirty="0">
                <a:solidFill>
                  <a:srgbClr val="132720"/>
                </a:solidFill>
                <a:latin typeface="Calibri" pitchFamily="34" charset="0"/>
                <a:ea typeface="Calibri" pitchFamily="34" charset="-122"/>
                <a:cs typeface="Calibri" pitchFamily="34" charset="-120"/>
              </a:rPr>
              <a:t>EV Models</a:t>
            </a:r>
            <a:endParaRPr lang="en-US" sz="900" dirty="0"/>
          </a:p>
        </p:txBody>
      </p:sp>
      <p:sp>
        <p:nvSpPr>
          <p:cNvPr id="11" name="Text 9"/>
          <p:cNvSpPr/>
          <p:nvPr/>
        </p:nvSpPr>
        <p:spPr>
          <a:xfrm>
            <a:off x="8165592" y="1760220"/>
            <a:ext cx="164592" cy="274320"/>
          </a:xfrm>
          <a:prstGeom prst="rect">
            <a:avLst/>
          </a:prstGeom>
          <a:noFill/>
          <a:ln/>
        </p:spPr>
        <p:txBody>
          <a:bodyPr wrap="square" rtlCol="0" anchor="ctr"/>
          <a:lstStyle/>
          <a:p>
            <a:pPr marL="0" indent="0" algn="ctr">
              <a:buNone/>
            </a:pPr>
            <a:r>
              <a:rPr lang="en-US" sz="1200" b="1" dirty="0">
                <a:solidFill>
                  <a:srgbClr val="6FAE8B"/>
                </a:solidFill>
              </a:rPr>
              <a:t>→</a:t>
            </a:r>
            <a:endParaRPr lang="en-US" sz="1200" dirty="0"/>
          </a:p>
        </p:txBody>
      </p:sp>
      <p:sp>
        <p:nvSpPr>
          <p:cNvPr id="12" name="Shape 10"/>
          <p:cNvSpPr/>
          <p:nvPr/>
        </p:nvSpPr>
        <p:spPr>
          <a:xfrm>
            <a:off x="8330184" y="1463040"/>
            <a:ext cx="1005840" cy="868680"/>
          </a:xfrm>
          <a:prstGeom prst="roundRect">
            <a:avLst>
              <a:gd name="adj" fmla="val 9474"/>
            </a:avLst>
          </a:prstGeom>
          <a:solidFill>
            <a:srgbClr val="EAF3EE"/>
          </a:solidFill>
          <a:ln/>
        </p:spPr>
        <p:txBody>
          <a:bodyPr/>
          <a:lstStyle/>
          <a:p>
            <a:endParaRPr lang="en-ID"/>
          </a:p>
        </p:txBody>
      </p:sp>
      <p:sp>
        <p:nvSpPr>
          <p:cNvPr id="13" name="Text 11"/>
          <p:cNvSpPr/>
          <p:nvPr/>
        </p:nvSpPr>
        <p:spPr>
          <a:xfrm>
            <a:off x="8330184" y="1463040"/>
            <a:ext cx="1005840" cy="868680"/>
          </a:xfrm>
          <a:prstGeom prst="rect">
            <a:avLst/>
          </a:prstGeom>
          <a:noFill/>
          <a:ln/>
        </p:spPr>
        <p:txBody>
          <a:bodyPr wrap="square" rtlCol="0" anchor="ctr"/>
          <a:lstStyle/>
          <a:p>
            <a:pPr marL="0" indent="0" algn="ctr">
              <a:lnSpc>
                <a:spcPct val="105000"/>
              </a:lnSpc>
              <a:buNone/>
            </a:pPr>
            <a:r>
              <a:rPr lang="en-US" sz="900" b="1" dirty="0">
                <a:solidFill>
                  <a:srgbClr val="132720"/>
                </a:solidFill>
                <a:latin typeface="Calibri" pitchFamily="34" charset="0"/>
                <a:ea typeface="Calibri" pitchFamily="34" charset="-122"/>
                <a:cs typeface="Calibri" pitchFamily="34" charset="-120"/>
              </a:rPr>
              <a:t>EV Within</a:t>
            </a:r>
            <a:endParaRPr lang="en-US" sz="900" dirty="0"/>
          </a:p>
          <a:p>
            <a:pPr marL="0" indent="0" algn="ctr">
              <a:lnSpc>
                <a:spcPct val="105000"/>
              </a:lnSpc>
              <a:buNone/>
            </a:pPr>
            <a:r>
              <a:rPr lang="en-US" sz="900" b="1" dirty="0">
                <a:solidFill>
                  <a:srgbClr val="132720"/>
                </a:solidFill>
                <a:latin typeface="Calibri" pitchFamily="34" charset="0"/>
                <a:ea typeface="Calibri" pitchFamily="34" charset="-122"/>
                <a:cs typeface="Calibri" pitchFamily="34" charset="-120"/>
              </a:rPr>
              <a:t>Budget</a:t>
            </a:r>
            <a:endParaRPr lang="en-US" sz="900" dirty="0"/>
          </a:p>
        </p:txBody>
      </p:sp>
      <p:sp>
        <p:nvSpPr>
          <p:cNvPr id="14" name="Text 12"/>
          <p:cNvSpPr/>
          <p:nvPr/>
        </p:nvSpPr>
        <p:spPr>
          <a:xfrm>
            <a:off x="9336024" y="1760220"/>
            <a:ext cx="164592" cy="274320"/>
          </a:xfrm>
          <a:prstGeom prst="rect">
            <a:avLst/>
          </a:prstGeom>
          <a:noFill/>
          <a:ln/>
        </p:spPr>
        <p:txBody>
          <a:bodyPr wrap="square" rtlCol="0" anchor="ctr"/>
          <a:lstStyle/>
          <a:p>
            <a:pPr marL="0" indent="0" algn="ctr">
              <a:buNone/>
            </a:pPr>
            <a:r>
              <a:rPr lang="en-US" sz="1200" b="1" dirty="0">
                <a:solidFill>
                  <a:srgbClr val="6FAE8B"/>
                </a:solidFill>
              </a:rPr>
              <a:t>→</a:t>
            </a:r>
            <a:endParaRPr lang="en-US" sz="1200" dirty="0"/>
          </a:p>
        </p:txBody>
      </p:sp>
      <p:sp>
        <p:nvSpPr>
          <p:cNvPr id="15" name="Shape 13"/>
          <p:cNvSpPr/>
          <p:nvPr/>
        </p:nvSpPr>
        <p:spPr>
          <a:xfrm>
            <a:off x="9500616" y="1463040"/>
            <a:ext cx="1005840" cy="868680"/>
          </a:xfrm>
          <a:prstGeom prst="roundRect">
            <a:avLst>
              <a:gd name="adj" fmla="val 9474"/>
            </a:avLst>
          </a:prstGeom>
          <a:solidFill>
            <a:srgbClr val="EAF3EE"/>
          </a:solidFill>
          <a:ln/>
        </p:spPr>
        <p:txBody>
          <a:bodyPr/>
          <a:lstStyle/>
          <a:p>
            <a:endParaRPr lang="en-ID"/>
          </a:p>
        </p:txBody>
      </p:sp>
      <p:sp>
        <p:nvSpPr>
          <p:cNvPr id="16" name="Text 14"/>
          <p:cNvSpPr/>
          <p:nvPr/>
        </p:nvSpPr>
        <p:spPr>
          <a:xfrm>
            <a:off x="9500616" y="1463040"/>
            <a:ext cx="1005840" cy="868680"/>
          </a:xfrm>
          <a:prstGeom prst="rect">
            <a:avLst/>
          </a:prstGeom>
          <a:noFill/>
          <a:ln/>
        </p:spPr>
        <p:txBody>
          <a:bodyPr wrap="square" rtlCol="0" anchor="ctr"/>
          <a:lstStyle/>
          <a:p>
            <a:pPr marL="0" indent="0" algn="ctr">
              <a:lnSpc>
                <a:spcPct val="105000"/>
              </a:lnSpc>
              <a:buNone/>
            </a:pPr>
            <a:r>
              <a:rPr lang="en-US" sz="900" b="1" dirty="0">
                <a:solidFill>
                  <a:srgbClr val="132720"/>
                </a:solidFill>
                <a:latin typeface="Calibri" pitchFamily="34" charset="0"/>
                <a:ea typeface="Calibri" pitchFamily="34" charset="-122"/>
                <a:cs typeface="Calibri" pitchFamily="34" charset="-120"/>
              </a:rPr>
              <a:t>Avg. Range</a:t>
            </a:r>
            <a:endParaRPr lang="en-US" sz="900" dirty="0"/>
          </a:p>
          <a:p>
            <a:pPr marL="0" indent="0" algn="ctr">
              <a:lnSpc>
                <a:spcPct val="105000"/>
              </a:lnSpc>
              <a:buNone/>
            </a:pPr>
            <a:r>
              <a:rPr lang="en-US" sz="900" b="1" dirty="0">
                <a:solidFill>
                  <a:srgbClr val="132720"/>
                </a:solidFill>
                <a:latin typeface="Calibri" pitchFamily="34" charset="0"/>
                <a:ea typeface="Calibri" pitchFamily="34" charset="-122"/>
                <a:cs typeface="Calibri" pitchFamily="34" charset="-120"/>
              </a:rPr>
              <a:t>Within Budget</a:t>
            </a:r>
            <a:endParaRPr lang="en-US" sz="900" dirty="0"/>
          </a:p>
        </p:txBody>
      </p:sp>
      <p:sp>
        <p:nvSpPr>
          <p:cNvPr id="17" name="Text 15"/>
          <p:cNvSpPr/>
          <p:nvPr/>
        </p:nvSpPr>
        <p:spPr>
          <a:xfrm>
            <a:off x="10506456" y="1760220"/>
            <a:ext cx="164592" cy="274320"/>
          </a:xfrm>
          <a:prstGeom prst="rect">
            <a:avLst/>
          </a:prstGeom>
          <a:noFill/>
          <a:ln/>
        </p:spPr>
        <p:txBody>
          <a:bodyPr wrap="square" rtlCol="0" anchor="ctr"/>
          <a:lstStyle/>
          <a:p>
            <a:pPr marL="0" indent="0" algn="ctr">
              <a:buNone/>
            </a:pPr>
            <a:r>
              <a:rPr lang="en-US" sz="1200" b="1" dirty="0">
                <a:solidFill>
                  <a:srgbClr val="6FAE8B"/>
                </a:solidFill>
              </a:rPr>
              <a:t>→</a:t>
            </a:r>
            <a:endParaRPr lang="en-US" sz="1200" dirty="0"/>
          </a:p>
        </p:txBody>
      </p:sp>
      <p:sp>
        <p:nvSpPr>
          <p:cNvPr id="18" name="Shape 16"/>
          <p:cNvSpPr/>
          <p:nvPr/>
        </p:nvSpPr>
        <p:spPr>
          <a:xfrm>
            <a:off x="10671048" y="1463040"/>
            <a:ext cx="1005840" cy="868680"/>
          </a:xfrm>
          <a:prstGeom prst="roundRect">
            <a:avLst>
              <a:gd name="adj" fmla="val 9474"/>
            </a:avLst>
          </a:prstGeom>
          <a:solidFill>
            <a:srgbClr val="0E3B2E"/>
          </a:solidFill>
          <a:ln/>
        </p:spPr>
        <p:txBody>
          <a:bodyPr/>
          <a:lstStyle/>
          <a:p>
            <a:endParaRPr lang="en-ID"/>
          </a:p>
        </p:txBody>
      </p:sp>
      <p:sp>
        <p:nvSpPr>
          <p:cNvPr id="19" name="Text 17"/>
          <p:cNvSpPr/>
          <p:nvPr/>
        </p:nvSpPr>
        <p:spPr>
          <a:xfrm>
            <a:off x="10671048" y="1463040"/>
            <a:ext cx="1005840" cy="868680"/>
          </a:xfrm>
          <a:prstGeom prst="rect">
            <a:avLst/>
          </a:prstGeom>
          <a:noFill/>
          <a:ln/>
        </p:spPr>
        <p:txBody>
          <a:bodyPr wrap="square" rtlCol="0" anchor="ctr"/>
          <a:lstStyle/>
          <a:p>
            <a:pPr marL="0" indent="0" algn="ctr">
              <a:lnSpc>
                <a:spcPct val="105000"/>
              </a:lnSpc>
              <a:buNone/>
            </a:pPr>
            <a:r>
              <a:rPr lang="en-US" sz="900" b="1" dirty="0">
                <a:solidFill>
                  <a:srgbClr val="FFFFFF"/>
                </a:solidFill>
                <a:latin typeface="Calibri" pitchFamily="34" charset="0"/>
                <a:ea typeface="Calibri" pitchFamily="34" charset="-122"/>
                <a:cs typeface="Calibri" pitchFamily="34" charset="-120"/>
              </a:rPr>
              <a:t>Best Value</a:t>
            </a:r>
            <a:endParaRPr lang="en-US" sz="900" dirty="0"/>
          </a:p>
          <a:p>
            <a:pPr marL="0" indent="0" algn="ctr">
              <a:lnSpc>
                <a:spcPct val="105000"/>
              </a:lnSpc>
              <a:buNone/>
            </a:pPr>
            <a:r>
              <a:rPr lang="en-US" sz="900" b="1" dirty="0">
                <a:solidFill>
                  <a:srgbClr val="FFFFFF"/>
                </a:solidFill>
                <a:latin typeface="Calibri" pitchFamily="34" charset="0"/>
                <a:ea typeface="Calibri" pitchFamily="34" charset="-122"/>
                <a:cs typeface="Calibri" pitchFamily="34" charset="-120"/>
              </a:rPr>
              <a:t>Within Budget</a:t>
            </a:r>
            <a:endParaRPr lang="en-US" sz="900" dirty="0"/>
          </a:p>
        </p:txBody>
      </p:sp>
      <p:sp>
        <p:nvSpPr>
          <p:cNvPr id="20" name="Shape 18"/>
          <p:cNvSpPr/>
          <p:nvPr/>
        </p:nvSpPr>
        <p:spPr>
          <a:xfrm>
            <a:off x="5989320" y="2514600"/>
            <a:ext cx="5650992" cy="1188720"/>
          </a:xfrm>
          <a:prstGeom prst="roundRect">
            <a:avLst>
              <a:gd name="adj" fmla="val 6923"/>
            </a:avLst>
          </a:prstGeom>
          <a:solidFill>
            <a:srgbClr val="FBF3E3"/>
          </a:solidFill>
          <a:ln/>
          <a:effectLst>
            <a:outerShdw blurRad="63500" dist="25400" dir="5400000" algn="bl" rotWithShape="0">
              <a:srgbClr val="0E3B2E">
                <a:alpha val="12000"/>
              </a:srgbClr>
            </a:outerShdw>
          </a:effectLst>
        </p:spPr>
        <p:txBody>
          <a:bodyPr/>
          <a:lstStyle/>
          <a:p>
            <a:endParaRPr lang="en-ID"/>
          </a:p>
        </p:txBody>
      </p:sp>
      <p:sp>
        <p:nvSpPr>
          <p:cNvPr id="21" name="Text 19"/>
          <p:cNvSpPr/>
          <p:nvPr/>
        </p:nvSpPr>
        <p:spPr>
          <a:xfrm>
            <a:off x="6199632" y="2624328"/>
            <a:ext cx="5212080" cy="960120"/>
          </a:xfrm>
          <a:prstGeom prst="rect">
            <a:avLst/>
          </a:prstGeom>
          <a:noFill/>
          <a:ln/>
        </p:spPr>
        <p:txBody>
          <a:bodyPr wrap="square" rtlCol="0" anchor="ctr"/>
          <a:lstStyle/>
          <a:p>
            <a:pPr marL="0" indent="0">
              <a:lnSpc>
                <a:spcPct val="125000"/>
              </a:lnSpc>
              <a:buNone/>
            </a:pPr>
            <a:r>
              <a:rPr lang="en-US" sz="1200" b="1" dirty="0">
                <a:solidFill>
                  <a:srgbClr val="132720"/>
                </a:solidFill>
                <a:latin typeface="Calibri" pitchFamily="34" charset="0"/>
                <a:ea typeface="Calibri" pitchFamily="34" charset="-122"/>
                <a:cs typeface="Calibri" pitchFamily="34" charset="-120"/>
              </a:rPr>
              <a:t>Example — Budget = IDR 500 Juta:  </a:t>
            </a:r>
            <a:r>
              <a:rPr lang="en-US" sz="1150" dirty="0">
                <a:solidFill>
                  <a:srgbClr val="5B6B63"/>
                </a:solidFill>
                <a:latin typeface="Calibri" pitchFamily="34" charset="0"/>
                <a:ea typeface="Calibri" pitchFamily="34" charset="-122"/>
                <a:cs typeface="Calibri" pitchFamily="34" charset="-120"/>
              </a:rPr>
              <a:t>23 of 48 validly priced models qualify, with an average driving range of 369 km. Changan Lumin remains the best-value pick.</a:t>
            </a:r>
            <a:endParaRPr lang="en-US" sz="1200" dirty="0"/>
          </a:p>
        </p:txBody>
      </p:sp>
      <p:graphicFrame>
        <p:nvGraphicFramePr>
          <p:cNvPr id="22" name="Chart 0"/>
          <p:cNvGraphicFramePr/>
          <p:nvPr/>
        </p:nvGraphicFramePr>
        <p:xfrm>
          <a:off x="548640" y="3840480"/>
          <a:ext cx="5212080" cy="2057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3" name="Chart 1"/>
          <p:cNvGraphicFramePr/>
          <p:nvPr/>
        </p:nvGraphicFramePr>
        <p:xfrm>
          <a:off x="5989320" y="3840480"/>
          <a:ext cx="5650992" cy="2057400"/>
        </p:xfrm>
        <a:graphic>
          <a:graphicData uri="http://schemas.openxmlformats.org/drawingml/2006/chart">
            <c:chart xmlns:c="http://schemas.openxmlformats.org/drawingml/2006/chart" xmlns:r="http://schemas.openxmlformats.org/officeDocument/2006/relationships" r:id="rId4"/>
          </a:graphicData>
        </a:graphic>
      </p:graphicFrame>
      <p:sp>
        <p:nvSpPr>
          <p:cNvPr id="24" name="Text 20"/>
          <p:cNvSpPr/>
          <p:nvPr/>
        </p:nvSpPr>
        <p:spPr>
          <a:xfrm>
            <a:off x="548640" y="5961888"/>
            <a:ext cx="11091672" cy="438912"/>
          </a:xfrm>
          <a:prstGeom prst="rect">
            <a:avLst/>
          </a:prstGeom>
          <a:noFill/>
          <a:ln/>
        </p:spPr>
        <p:txBody>
          <a:bodyPr wrap="square" rtlCol="0" anchor="ctr"/>
          <a:lstStyle/>
          <a:p>
            <a:pPr marL="0" indent="0">
              <a:lnSpc>
                <a:spcPct val="105000"/>
              </a:lnSpc>
              <a:buNone/>
            </a:pPr>
            <a:r>
              <a:rPr lang="en-US" sz="1000" i="1" dirty="0">
                <a:solidFill>
                  <a:srgbClr val="1F7A6C"/>
                </a:solidFill>
                <a:latin typeface="Calibri" pitchFamily="34" charset="0"/>
                <a:ea typeface="Calibri" pitchFamily="34" charset="-122"/>
                <a:cs typeface="Calibri" pitchFamily="34" charset="-120"/>
              </a:rPr>
              <a:t>So what: raising the budget from 300→800 Juta (+167%) unlocks 8x more eligible models, but average range improves only ~34% — a higher budget mainly buys brand and feature variety, not dramatically more range.</a:t>
            </a:r>
            <a:endParaRPr lang="en-US" sz="1000" dirty="0"/>
          </a:p>
        </p:txBody>
      </p:sp>
      <p:sp>
        <p:nvSpPr>
          <p:cNvPr id="25" name="Text 21"/>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Budget Simulator</a:t>
            </a:r>
            <a:endParaRPr lang="en-US" sz="900" dirty="0"/>
          </a:p>
        </p:txBody>
      </p:sp>
      <p:sp>
        <p:nvSpPr>
          <p:cNvPr id="26" name="Text 22"/>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8</a:t>
            </a:r>
            <a:endParaRPr lang="en-US" sz="900" dirty="0"/>
          </a:p>
        </p:txBody>
      </p:sp>
      <p:pic>
        <p:nvPicPr>
          <p:cNvPr id="28" name="Picture 27">
            <a:extLst>
              <a:ext uri="{FF2B5EF4-FFF2-40B4-BE49-F238E27FC236}">
                <a16:creationId xmlns:a16="http://schemas.microsoft.com/office/drawing/2014/main" id="{721263D4-4AE1-78BD-24CB-780883B0B03F}"/>
              </a:ext>
            </a:extLst>
          </p:cNvPr>
          <p:cNvPicPr>
            <a:picLocks noChangeAspect="1"/>
          </p:cNvPicPr>
          <p:nvPr/>
        </p:nvPicPr>
        <p:blipFill>
          <a:blip r:embed="rId5"/>
          <a:stretch>
            <a:fillRect/>
          </a:stretch>
        </p:blipFill>
        <p:spPr>
          <a:xfrm>
            <a:off x="356616" y="1252728"/>
            <a:ext cx="5486400" cy="267493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08 — SYNTHESIS</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Key Insights</a:t>
            </a:r>
            <a:endParaRPr lang="en-US" sz="3000" dirty="0"/>
          </a:p>
        </p:txBody>
      </p:sp>
      <p:sp>
        <p:nvSpPr>
          <p:cNvPr id="4" name="Text 2"/>
          <p:cNvSpPr/>
          <p:nvPr/>
        </p:nvSpPr>
        <p:spPr>
          <a:xfrm>
            <a:off x="548640" y="1234440"/>
            <a:ext cx="9144000" cy="292608"/>
          </a:xfrm>
          <a:prstGeom prst="rect">
            <a:avLst/>
          </a:prstGeom>
          <a:noFill/>
          <a:ln/>
        </p:spPr>
        <p:txBody>
          <a:bodyPr wrap="square" rtlCol="0" anchor="ctr"/>
          <a:lstStyle/>
          <a:p>
            <a:pPr marL="0" indent="0">
              <a:buNone/>
            </a:pPr>
            <a:r>
              <a:rPr lang="en-US" sz="1150" i="1" dirty="0">
                <a:solidFill>
                  <a:srgbClr val="5B6B63"/>
                </a:solidFill>
                <a:latin typeface="Calibri" pitchFamily="34" charset="0"/>
                <a:ea typeface="Calibri" pitchFamily="34" charset="-122"/>
                <a:cs typeface="Calibri" pitchFamily="34" charset="-120"/>
              </a:rPr>
              <a:t>Structured the same way as the dashboard’s Business Insights page.</a:t>
            </a:r>
            <a:endParaRPr lang="en-US" sz="1150" dirty="0"/>
          </a:p>
        </p:txBody>
      </p:sp>
      <p:sp>
        <p:nvSpPr>
          <p:cNvPr id="5" name="Shape 3"/>
          <p:cNvSpPr/>
          <p:nvPr/>
        </p:nvSpPr>
        <p:spPr>
          <a:xfrm>
            <a:off x="548640" y="169164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6" name="Text 4"/>
          <p:cNvSpPr/>
          <p:nvPr/>
        </p:nvSpPr>
        <p:spPr>
          <a:xfrm>
            <a:off x="749808" y="1819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1417320" y="1819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Portfolio Position</a:t>
            </a:r>
            <a:endParaRPr lang="en-US" sz="1400" dirty="0"/>
          </a:p>
        </p:txBody>
      </p:sp>
      <p:sp>
        <p:nvSpPr>
          <p:cNvPr id="8" name="Text 6"/>
          <p:cNvSpPr/>
          <p:nvPr/>
        </p:nvSpPr>
        <p:spPr>
          <a:xfrm>
            <a:off x="749808" y="225856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The Premium segment leads the validly priced catalog.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Premium (&gt;600M) accounts for 23 of 48 validly priced models (48%) — the largest single tier, ahead of Mid 300–600M (44%) and Entry &lt;300M (8%).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The Indonesian EV catalog currently leans toward the upper price tier.</a:t>
            </a:r>
            <a:endParaRPr lang="en-US" sz="900" dirty="0"/>
          </a:p>
        </p:txBody>
      </p:sp>
      <p:sp>
        <p:nvSpPr>
          <p:cNvPr id="9" name="Shape 7"/>
          <p:cNvSpPr/>
          <p:nvPr/>
        </p:nvSpPr>
        <p:spPr>
          <a:xfrm>
            <a:off x="6199632" y="169164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0" name="Text 8"/>
          <p:cNvSpPr/>
          <p:nvPr/>
        </p:nvSpPr>
        <p:spPr>
          <a:xfrm>
            <a:off x="6400800" y="1819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7068312" y="1819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Performance Pattern</a:t>
            </a:r>
            <a:endParaRPr lang="en-US" sz="1400" dirty="0"/>
          </a:p>
        </p:txBody>
      </p:sp>
      <p:sp>
        <p:nvSpPr>
          <p:cNvPr id="12" name="Text 10"/>
          <p:cNvSpPr/>
          <p:nvPr/>
        </p:nvSpPr>
        <p:spPr>
          <a:xfrm>
            <a:off x="6400800" y="225856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Power and range move together.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Motor Power and Driving Range correlate at r = 0.68 across all 60 models.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Higher-powered EVs tend to also deliver longer range — useful for performance-tier positioning.</a:t>
            </a:r>
            <a:endParaRPr lang="en-US" sz="900" dirty="0"/>
          </a:p>
        </p:txBody>
      </p:sp>
      <p:sp>
        <p:nvSpPr>
          <p:cNvPr id="13" name="Shape 11"/>
          <p:cNvSpPr/>
          <p:nvPr/>
        </p:nvSpPr>
        <p:spPr>
          <a:xfrm>
            <a:off x="548640" y="365760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4" name="Text 12"/>
          <p:cNvSpPr/>
          <p:nvPr/>
        </p:nvSpPr>
        <p:spPr>
          <a:xfrm>
            <a:off x="749808" y="378561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03</a:t>
            </a:r>
            <a:endParaRPr lang="en-US" sz="2200" dirty="0"/>
          </a:p>
        </p:txBody>
      </p:sp>
      <p:sp>
        <p:nvSpPr>
          <p:cNvPr id="15" name="Text 13"/>
          <p:cNvSpPr/>
          <p:nvPr/>
        </p:nvSpPr>
        <p:spPr>
          <a:xfrm>
            <a:off x="1417320" y="378561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Charging Landscape</a:t>
            </a:r>
            <a:endParaRPr lang="en-US" sz="1400" dirty="0"/>
          </a:p>
        </p:txBody>
      </p:sp>
      <p:sp>
        <p:nvSpPr>
          <p:cNvPr id="16" name="Text 14"/>
          <p:cNvSpPr/>
          <p:nvPr/>
        </p:nvSpPr>
        <p:spPr>
          <a:xfrm>
            <a:off x="749808" y="422452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Charging speed varies enormously across the catalog.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Fastest: 5 models tie at 15 minutes (incl. ZEEKR 7X, GAC Aion Hyptec HT). Slowest: Wuling E200 (600 minutes).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The charging-time gap between models is very wide — a strong basis for a headline comparison filter.</a:t>
            </a:r>
            <a:endParaRPr lang="en-US" sz="900" dirty="0"/>
          </a:p>
        </p:txBody>
      </p:sp>
      <p:sp>
        <p:nvSpPr>
          <p:cNvPr id="17" name="Shape 15"/>
          <p:cNvSpPr/>
          <p:nvPr/>
        </p:nvSpPr>
        <p:spPr>
          <a:xfrm>
            <a:off x="6199632" y="365760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8" name="Text 16"/>
          <p:cNvSpPr/>
          <p:nvPr/>
        </p:nvSpPr>
        <p:spPr>
          <a:xfrm>
            <a:off x="6400800" y="378561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04</a:t>
            </a:r>
            <a:endParaRPr lang="en-US" sz="2200" dirty="0"/>
          </a:p>
        </p:txBody>
      </p:sp>
      <p:sp>
        <p:nvSpPr>
          <p:cNvPr id="19" name="Text 17"/>
          <p:cNvSpPr/>
          <p:nvPr/>
        </p:nvSpPr>
        <p:spPr>
          <a:xfrm>
            <a:off x="7068312" y="378561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Budget Opportunity</a:t>
            </a:r>
            <a:endParaRPr lang="en-US" sz="1400" dirty="0"/>
          </a:p>
        </p:txBody>
      </p:sp>
      <p:sp>
        <p:nvSpPr>
          <p:cNvPr id="20" name="Text 18"/>
          <p:cNvSpPr/>
          <p:nvPr/>
        </p:nvSpPr>
        <p:spPr>
          <a:xfrm>
            <a:off x="6400800" y="422452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The budget simulator reveals options invisible from price alone.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At a budget of Rp500 Juta, 23 of 48 models qualify, averaging 369 km range; Changan Lumin remains the best-value pick.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A dynamic simulator surfaces smarter recommendations than a static price list.</a:t>
            </a:r>
            <a:endParaRPr lang="en-US" sz="900" dirty="0"/>
          </a:p>
        </p:txBody>
      </p:sp>
      <p:sp>
        <p:nvSpPr>
          <p:cNvPr id="21" name="Shape 19"/>
          <p:cNvSpPr/>
          <p:nvPr/>
        </p:nvSpPr>
        <p:spPr>
          <a:xfrm>
            <a:off x="548640" y="5623560"/>
            <a:ext cx="11091672" cy="868680"/>
          </a:xfrm>
          <a:prstGeom prst="roundRect">
            <a:avLst>
              <a:gd name="adj" fmla="val 9474"/>
            </a:avLst>
          </a:prstGeom>
          <a:solidFill>
            <a:srgbClr val="0E3B2E"/>
          </a:solidFill>
          <a:ln/>
        </p:spPr>
        <p:txBody>
          <a:bodyPr/>
          <a:lstStyle/>
          <a:p>
            <a:endParaRPr lang="en-ID"/>
          </a:p>
        </p:txBody>
      </p:sp>
      <p:sp>
        <p:nvSpPr>
          <p:cNvPr id="22" name="Text 20"/>
          <p:cNvSpPr/>
          <p:nvPr/>
        </p:nvSpPr>
        <p:spPr>
          <a:xfrm>
            <a:off x="868680" y="5623560"/>
            <a:ext cx="10424160" cy="868680"/>
          </a:xfrm>
          <a:prstGeom prst="rect">
            <a:avLst/>
          </a:prstGeom>
          <a:noFill/>
          <a:ln/>
        </p:spPr>
        <p:txBody>
          <a:bodyPr wrap="square" rtlCol="0" anchor="ctr"/>
          <a:lstStyle/>
          <a:p>
            <a:pPr marL="0" indent="0">
              <a:lnSpc>
                <a:spcPct val="120000"/>
              </a:lnSpc>
              <a:buNone/>
            </a:pPr>
            <a:r>
              <a:rPr lang="en-US" sz="1200" b="1" dirty="0">
                <a:solidFill>
                  <a:srgbClr val="6FAE8B"/>
                </a:solidFill>
                <a:latin typeface="Calibri" pitchFamily="34" charset="0"/>
                <a:ea typeface="Calibri" pitchFamily="34" charset="-122"/>
                <a:cs typeface="Calibri" pitchFamily="34" charset="-120"/>
              </a:rPr>
              <a:t>EXECUTIVE TAKEAWAY   </a:t>
            </a:r>
            <a:r>
              <a:rPr lang="en-US" sz="1300" dirty="0">
                <a:solidFill>
                  <a:srgbClr val="FFFFFF"/>
                </a:solidFill>
                <a:latin typeface="Calibri" pitchFamily="34" charset="0"/>
                <a:ea typeface="Calibri" pitchFamily="34" charset="-122"/>
                <a:cs typeface="Calibri" pitchFamily="34" charset="-120"/>
              </a:rPr>
              <a:t>Use price, driving range, charging time and value score together — no single metric tells the full story.</a:t>
            </a:r>
            <a:endParaRPr lang="en-US" sz="1200" dirty="0"/>
          </a:p>
        </p:txBody>
      </p:sp>
      <p:sp>
        <p:nvSpPr>
          <p:cNvPr id="23" name="Text 21"/>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Key Insights</a:t>
            </a:r>
            <a:endParaRPr lang="en-US" sz="900" dirty="0"/>
          </a:p>
        </p:txBody>
      </p:sp>
      <p:sp>
        <p:nvSpPr>
          <p:cNvPr id="24" name="Text 22"/>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09 — RECOMMENDATIONS</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From Findings to Action</a:t>
            </a:r>
            <a:endParaRPr lang="en-US" sz="3000" dirty="0"/>
          </a:p>
        </p:txBody>
      </p:sp>
      <p:sp>
        <p:nvSpPr>
          <p:cNvPr id="4" name="Shape 2"/>
          <p:cNvSpPr/>
          <p:nvPr/>
        </p:nvSpPr>
        <p:spPr>
          <a:xfrm>
            <a:off x="548640" y="1417320"/>
            <a:ext cx="3584448" cy="4663440"/>
          </a:xfrm>
          <a:prstGeom prst="roundRect">
            <a:avLst>
              <a:gd name="adj" fmla="val 2296"/>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5" name="Shape 3"/>
          <p:cNvSpPr/>
          <p:nvPr/>
        </p:nvSpPr>
        <p:spPr>
          <a:xfrm>
            <a:off x="777240" y="1645920"/>
            <a:ext cx="502920" cy="502920"/>
          </a:xfrm>
          <a:prstGeom prst="ellipse">
            <a:avLst/>
          </a:prstGeom>
          <a:solidFill>
            <a:srgbClr val="0E3B2E"/>
          </a:solidFill>
          <a:ln/>
        </p:spPr>
        <p:txBody>
          <a:bodyPr/>
          <a:lstStyle/>
          <a:p>
            <a:endParaRPr lang="en-ID"/>
          </a:p>
        </p:txBody>
      </p:sp>
      <p:sp>
        <p:nvSpPr>
          <p:cNvPr id="6" name="Text 4"/>
          <p:cNvSpPr/>
          <p:nvPr/>
        </p:nvSpPr>
        <p:spPr>
          <a:xfrm>
            <a:off x="777240" y="16459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417320" y="1645920"/>
            <a:ext cx="2487168" cy="502920"/>
          </a:xfrm>
          <a:prstGeom prst="rect">
            <a:avLst/>
          </a:prstGeom>
          <a:noFill/>
          <a:ln/>
        </p:spPr>
        <p:txBody>
          <a:bodyPr wrap="square" rtlCol="0" anchor="ctr"/>
          <a:lstStyle/>
          <a:p>
            <a:pPr marL="0" indent="0">
              <a:buNone/>
            </a:pPr>
            <a:r>
              <a:rPr lang="en-US" sz="1500" b="1" dirty="0">
                <a:solidFill>
                  <a:srgbClr val="132720"/>
                </a:solidFill>
                <a:latin typeface="Cambria" pitchFamily="34" charset="0"/>
                <a:ea typeface="Cambria" pitchFamily="34" charset="-122"/>
                <a:cs typeface="Cambria" pitchFamily="34" charset="-120"/>
              </a:rPr>
              <a:t>For Customers</a:t>
            </a:r>
            <a:endParaRPr lang="en-US" sz="1500" dirty="0"/>
          </a:p>
        </p:txBody>
      </p:sp>
      <p:sp>
        <p:nvSpPr>
          <p:cNvPr id="8" name="Text 6"/>
          <p:cNvSpPr/>
          <p:nvPr/>
        </p:nvSpPr>
        <p:spPr>
          <a:xfrm>
            <a:off x="804672" y="2377440"/>
            <a:ext cx="3072384" cy="1051560"/>
          </a:xfrm>
          <a:prstGeom prst="rect">
            <a:avLst/>
          </a:prstGeom>
          <a:noFill/>
          <a:ln/>
        </p:spPr>
        <p:txBody>
          <a:bodyPr wrap="square" rtlCol="0" anchor="ctr"/>
          <a:lstStyle/>
          <a:p>
            <a:pPr marL="0" indent="0">
              <a:lnSpc>
                <a:spcPct val="122000"/>
              </a:lnSpc>
              <a:buNone/>
            </a:pPr>
            <a:r>
              <a:rPr lang="en-US" sz="1130" b="1" dirty="0">
                <a:solidFill>
                  <a:srgbClr val="1F7A6C"/>
                </a:solidFill>
                <a:latin typeface="Calibri" pitchFamily="34" charset="0"/>
                <a:ea typeface="Calibri" pitchFamily="34" charset="-122"/>
                <a:cs typeface="Calibri" pitchFamily="34" charset="-120"/>
              </a:rPr>
              <a:t>●  </a:t>
            </a:r>
            <a:r>
              <a:rPr lang="en-US" sz="1130" dirty="0">
                <a:solidFill>
                  <a:srgbClr val="5B6B63"/>
                </a:solidFill>
                <a:latin typeface="Calibri" pitchFamily="34" charset="0"/>
                <a:ea typeface="Calibri" pitchFamily="34" charset="-122"/>
                <a:cs typeface="Calibri" pitchFamily="34" charset="-120"/>
              </a:rPr>
              <a:t>Prioritize the Value Score (range-per-rupiah), not price or range alone.</a:t>
            </a:r>
            <a:endParaRPr lang="en-US" sz="1130" dirty="0"/>
          </a:p>
        </p:txBody>
      </p:sp>
      <p:sp>
        <p:nvSpPr>
          <p:cNvPr id="9" name="Text 7"/>
          <p:cNvSpPr/>
          <p:nvPr/>
        </p:nvSpPr>
        <p:spPr>
          <a:xfrm>
            <a:off x="804672" y="3547872"/>
            <a:ext cx="3072384" cy="1051560"/>
          </a:xfrm>
          <a:prstGeom prst="rect">
            <a:avLst/>
          </a:prstGeom>
          <a:noFill/>
          <a:ln/>
        </p:spPr>
        <p:txBody>
          <a:bodyPr wrap="square" rtlCol="0" anchor="ctr"/>
          <a:lstStyle/>
          <a:p>
            <a:pPr marL="0" indent="0">
              <a:lnSpc>
                <a:spcPct val="122000"/>
              </a:lnSpc>
              <a:buNone/>
            </a:pPr>
            <a:r>
              <a:rPr lang="en-US" sz="1130" b="1" dirty="0">
                <a:solidFill>
                  <a:srgbClr val="1F7A6C"/>
                </a:solidFill>
                <a:latin typeface="Calibri" pitchFamily="34" charset="0"/>
                <a:ea typeface="Calibri" pitchFamily="34" charset="-122"/>
                <a:cs typeface="Calibri" pitchFamily="34" charset="-120"/>
              </a:rPr>
              <a:t>●  </a:t>
            </a:r>
            <a:r>
              <a:rPr lang="en-US" sz="1130" dirty="0">
                <a:solidFill>
                  <a:srgbClr val="5B6B63"/>
                </a:solidFill>
                <a:latin typeface="Calibri" pitchFamily="34" charset="0"/>
                <a:ea typeface="Calibri" pitchFamily="34" charset="-122"/>
                <a:cs typeface="Calibri" pitchFamily="34" charset="-120"/>
              </a:rPr>
              <a:t>Use the Budget Simulator to compare realistic options at your exact price ceiling.</a:t>
            </a:r>
            <a:endParaRPr lang="en-US" sz="1130" dirty="0"/>
          </a:p>
        </p:txBody>
      </p:sp>
      <p:sp>
        <p:nvSpPr>
          <p:cNvPr id="10" name="Text 8"/>
          <p:cNvSpPr/>
          <p:nvPr/>
        </p:nvSpPr>
        <p:spPr>
          <a:xfrm>
            <a:off x="804672" y="4718304"/>
            <a:ext cx="3072384" cy="1051560"/>
          </a:xfrm>
          <a:prstGeom prst="rect">
            <a:avLst/>
          </a:prstGeom>
          <a:noFill/>
          <a:ln/>
        </p:spPr>
        <p:txBody>
          <a:bodyPr wrap="square" rtlCol="0" anchor="ctr"/>
          <a:lstStyle/>
          <a:p>
            <a:pPr marL="0" indent="0">
              <a:lnSpc>
                <a:spcPct val="122000"/>
              </a:lnSpc>
              <a:buNone/>
            </a:pPr>
            <a:r>
              <a:rPr lang="en-US" sz="1130" b="1" dirty="0">
                <a:solidFill>
                  <a:srgbClr val="1F7A6C"/>
                </a:solidFill>
                <a:latin typeface="Calibri" pitchFamily="34" charset="0"/>
                <a:ea typeface="Calibri" pitchFamily="34" charset="-122"/>
                <a:cs typeface="Calibri" pitchFamily="34" charset="-120"/>
              </a:rPr>
              <a:t>●  </a:t>
            </a:r>
            <a:r>
              <a:rPr lang="en-US" sz="1130" dirty="0">
                <a:solidFill>
                  <a:srgbClr val="5B6B63"/>
                </a:solidFill>
                <a:latin typeface="Calibri" pitchFamily="34" charset="0"/>
                <a:ea typeface="Calibri" pitchFamily="34" charset="-122"/>
                <a:cs typeface="Calibri" pitchFamily="34" charset="-120"/>
              </a:rPr>
              <a:t>Check charging time separately — it ranges from 15 to 600 minutes across the catalog.</a:t>
            </a:r>
            <a:endParaRPr lang="en-US" sz="1130" dirty="0"/>
          </a:p>
        </p:txBody>
      </p:sp>
      <p:sp>
        <p:nvSpPr>
          <p:cNvPr id="11" name="Shape 9"/>
          <p:cNvSpPr/>
          <p:nvPr/>
        </p:nvSpPr>
        <p:spPr>
          <a:xfrm>
            <a:off x="4302252" y="1417320"/>
            <a:ext cx="3584448" cy="4663440"/>
          </a:xfrm>
          <a:prstGeom prst="roundRect">
            <a:avLst>
              <a:gd name="adj" fmla="val 2296"/>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2" name="Shape 10"/>
          <p:cNvSpPr/>
          <p:nvPr/>
        </p:nvSpPr>
        <p:spPr>
          <a:xfrm>
            <a:off x="4530852" y="1645920"/>
            <a:ext cx="502920" cy="502920"/>
          </a:xfrm>
          <a:prstGeom prst="ellipse">
            <a:avLst/>
          </a:prstGeom>
          <a:solidFill>
            <a:srgbClr val="0E3B2E"/>
          </a:solidFill>
          <a:ln/>
        </p:spPr>
        <p:txBody>
          <a:bodyPr/>
          <a:lstStyle/>
          <a:p>
            <a:endParaRPr lang="en-ID"/>
          </a:p>
        </p:txBody>
      </p:sp>
      <p:sp>
        <p:nvSpPr>
          <p:cNvPr id="13" name="Text 11"/>
          <p:cNvSpPr/>
          <p:nvPr/>
        </p:nvSpPr>
        <p:spPr>
          <a:xfrm>
            <a:off x="4530852" y="16459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4" name="Text 12"/>
          <p:cNvSpPr/>
          <p:nvPr/>
        </p:nvSpPr>
        <p:spPr>
          <a:xfrm>
            <a:off x="5170932" y="1645920"/>
            <a:ext cx="2487168" cy="502920"/>
          </a:xfrm>
          <a:prstGeom prst="rect">
            <a:avLst/>
          </a:prstGeom>
          <a:noFill/>
          <a:ln/>
        </p:spPr>
        <p:txBody>
          <a:bodyPr wrap="square" rtlCol="0" anchor="ctr"/>
          <a:lstStyle/>
          <a:p>
            <a:pPr marL="0" indent="0">
              <a:buNone/>
            </a:pPr>
            <a:r>
              <a:rPr lang="en-US" sz="1500" b="1" dirty="0">
                <a:solidFill>
                  <a:srgbClr val="132720"/>
                </a:solidFill>
                <a:latin typeface="Cambria" pitchFamily="34" charset="0"/>
                <a:ea typeface="Cambria" pitchFamily="34" charset="-122"/>
                <a:cs typeface="Cambria" pitchFamily="34" charset="-120"/>
              </a:rPr>
              <a:t>For EV Sellers / Manufacturers</a:t>
            </a:r>
            <a:endParaRPr lang="en-US" sz="1500" dirty="0"/>
          </a:p>
        </p:txBody>
      </p:sp>
      <p:sp>
        <p:nvSpPr>
          <p:cNvPr id="15" name="Text 13"/>
          <p:cNvSpPr/>
          <p:nvPr/>
        </p:nvSpPr>
        <p:spPr>
          <a:xfrm>
            <a:off x="4558284" y="2377440"/>
            <a:ext cx="3072384" cy="1051560"/>
          </a:xfrm>
          <a:prstGeom prst="rect">
            <a:avLst/>
          </a:prstGeom>
          <a:noFill/>
          <a:ln/>
        </p:spPr>
        <p:txBody>
          <a:bodyPr wrap="square" rtlCol="0" anchor="ctr"/>
          <a:lstStyle/>
          <a:p>
            <a:pPr marL="0" indent="0">
              <a:lnSpc>
                <a:spcPct val="122000"/>
              </a:lnSpc>
              <a:buNone/>
            </a:pPr>
            <a:r>
              <a:rPr lang="en-US" sz="1130" b="1" dirty="0">
                <a:solidFill>
                  <a:srgbClr val="1F7A6C"/>
                </a:solidFill>
                <a:latin typeface="Calibri" pitchFamily="34" charset="0"/>
                <a:ea typeface="Calibri" pitchFamily="34" charset="-122"/>
                <a:cs typeface="Calibri" pitchFamily="34" charset="-120"/>
              </a:rPr>
              <a:t>●  </a:t>
            </a:r>
            <a:r>
              <a:rPr lang="en-US" sz="1130" dirty="0">
                <a:solidFill>
                  <a:srgbClr val="5B6B63"/>
                </a:solidFill>
                <a:latin typeface="Calibri" pitchFamily="34" charset="0"/>
                <a:ea typeface="Calibri" pitchFamily="34" charset="-122"/>
                <a:cs typeface="Calibri" pitchFamily="34" charset="-120"/>
              </a:rPr>
              <a:t>Only 4 of 48 validly priced models sit in the Entry (&lt;300M) segment — a clear whitespace for affordable EVs.</a:t>
            </a:r>
            <a:endParaRPr lang="en-US" sz="1130" dirty="0"/>
          </a:p>
        </p:txBody>
      </p:sp>
      <p:sp>
        <p:nvSpPr>
          <p:cNvPr id="16" name="Text 14"/>
          <p:cNvSpPr/>
          <p:nvPr/>
        </p:nvSpPr>
        <p:spPr>
          <a:xfrm>
            <a:off x="4558284" y="3547872"/>
            <a:ext cx="3072384" cy="1051560"/>
          </a:xfrm>
          <a:prstGeom prst="rect">
            <a:avLst/>
          </a:prstGeom>
          <a:noFill/>
          <a:ln/>
        </p:spPr>
        <p:txBody>
          <a:bodyPr wrap="square" rtlCol="0" anchor="ctr"/>
          <a:lstStyle/>
          <a:p>
            <a:pPr marL="0" indent="0">
              <a:lnSpc>
                <a:spcPct val="122000"/>
              </a:lnSpc>
              <a:buNone/>
            </a:pPr>
            <a:r>
              <a:rPr lang="en-US" sz="1130" b="1" dirty="0">
                <a:solidFill>
                  <a:srgbClr val="1F7A6C"/>
                </a:solidFill>
                <a:latin typeface="Calibri" pitchFamily="34" charset="0"/>
                <a:ea typeface="Calibri" pitchFamily="34" charset="-122"/>
                <a:cs typeface="Calibri" pitchFamily="34" charset="-120"/>
              </a:rPr>
              <a:t>●  </a:t>
            </a:r>
            <a:r>
              <a:rPr lang="en-US" sz="1130" dirty="0">
                <a:solidFill>
                  <a:srgbClr val="5B6B63"/>
                </a:solidFill>
                <a:latin typeface="Calibri" pitchFamily="34" charset="0"/>
                <a:ea typeface="Calibri" pitchFamily="34" charset="-122"/>
                <a:cs typeface="Calibri" pitchFamily="34" charset="-120"/>
              </a:rPr>
              <a:t>Position performance-tier vehicles using Power + Range as a combined KPI.</a:t>
            </a:r>
            <a:endParaRPr lang="en-US" sz="1130" dirty="0"/>
          </a:p>
        </p:txBody>
      </p:sp>
      <p:sp>
        <p:nvSpPr>
          <p:cNvPr id="17" name="Text 15"/>
          <p:cNvSpPr/>
          <p:nvPr/>
        </p:nvSpPr>
        <p:spPr>
          <a:xfrm>
            <a:off x="4558284" y="4718304"/>
            <a:ext cx="3072384" cy="1051560"/>
          </a:xfrm>
          <a:prstGeom prst="rect">
            <a:avLst/>
          </a:prstGeom>
          <a:noFill/>
          <a:ln/>
        </p:spPr>
        <p:txBody>
          <a:bodyPr wrap="square" rtlCol="0" anchor="ctr"/>
          <a:lstStyle/>
          <a:p>
            <a:pPr marL="0" indent="0">
              <a:lnSpc>
                <a:spcPct val="122000"/>
              </a:lnSpc>
              <a:buNone/>
            </a:pPr>
            <a:r>
              <a:rPr lang="en-US" sz="1130" b="1" dirty="0">
                <a:solidFill>
                  <a:srgbClr val="1F7A6C"/>
                </a:solidFill>
                <a:latin typeface="Calibri" pitchFamily="34" charset="0"/>
                <a:ea typeface="Calibri" pitchFamily="34" charset="-122"/>
                <a:cs typeface="Calibri" pitchFamily="34" charset="-120"/>
              </a:rPr>
              <a:t>●  </a:t>
            </a:r>
            <a:r>
              <a:rPr lang="en-US" sz="1130" dirty="0">
                <a:solidFill>
                  <a:srgbClr val="5B6B63"/>
                </a:solidFill>
                <a:latin typeface="Calibri" pitchFamily="34" charset="0"/>
                <a:ea typeface="Calibri" pitchFamily="34" charset="-122"/>
                <a:cs typeface="Calibri" pitchFamily="34" charset="-120"/>
              </a:rPr>
              <a:t>Verify and republish pricing for the 12 flagged models to unlock them for value comparisons.</a:t>
            </a:r>
            <a:endParaRPr lang="en-US" sz="1130" dirty="0"/>
          </a:p>
        </p:txBody>
      </p:sp>
      <p:sp>
        <p:nvSpPr>
          <p:cNvPr id="18" name="Shape 16"/>
          <p:cNvSpPr/>
          <p:nvPr/>
        </p:nvSpPr>
        <p:spPr>
          <a:xfrm>
            <a:off x="8055864" y="1417320"/>
            <a:ext cx="3584448" cy="4663440"/>
          </a:xfrm>
          <a:prstGeom prst="roundRect">
            <a:avLst>
              <a:gd name="adj" fmla="val 2296"/>
            </a:avLst>
          </a:prstGeom>
          <a:solidFill>
            <a:srgbClr val="0E3B2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9" name="Shape 17"/>
          <p:cNvSpPr/>
          <p:nvPr/>
        </p:nvSpPr>
        <p:spPr>
          <a:xfrm>
            <a:off x="8284464" y="1645920"/>
            <a:ext cx="502920" cy="502920"/>
          </a:xfrm>
          <a:prstGeom prst="ellipse">
            <a:avLst/>
          </a:prstGeom>
          <a:solidFill>
            <a:srgbClr val="1F7A6C"/>
          </a:solidFill>
          <a:ln/>
        </p:spPr>
        <p:txBody>
          <a:bodyPr/>
          <a:lstStyle/>
          <a:p>
            <a:endParaRPr lang="en-ID"/>
          </a:p>
        </p:txBody>
      </p:sp>
      <p:sp>
        <p:nvSpPr>
          <p:cNvPr id="20" name="Text 18"/>
          <p:cNvSpPr/>
          <p:nvPr/>
        </p:nvSpPr>
        <p:spPr>
          <a:xfrm>
            <a:off x="8284464" y="16459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1" name="Text 19"/>
          <p:cNvSpPr/>
          <p:nvPr/>
        </p:nvSpPr>
        <p:spPr>
          <a:xfrm>
            <a:off x="8924544" y="1645920"/>
            <a:ext cx="2487168" cy="50292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For Management / Decision Makers</a:t>
            </a:r>
            <a:endParaRPr lang="en-US" sz="1500" dirty="0"/>
          </a:p>
        </p:txBody>
      </p:sp>
      <p:sp>
        <p:nvSpPr>
          <p:cNvPr id="22" name="Text 20"/>
          <p:cNvSpPr/>
          <p:nvPr/>
        </p:nvSpPr>
        <p:spPr>
          <a:xfrm>
            <a:off x="8311896" y="2377440"/>
            <a:ext cx="3072384" cy="1051560"/>
          </a:xfrm>
          <a:prstGeom prst="rect">
            <a:avLst/>
          </a:prstGeom>
          <a:noFill/>
          <a:ln/>
        </p:spPr>
        <p:txBody>
          <a:bodyPr wrap="square" rtlCol="0" anchor="ctr"/>
          <a:lstStyle/>
          <a:p>
            <a:pPr marL="0" indent="0">
              <a:lnSpc>
                <a:spcPct val="122000"/>
              </a:lnSpc>
              <a:buNone/>
            </a:pPr>
            <a:r>
              <a:rPr lang="en-US" sz="1130" b="1" dirty="0">
                <a:solidFill>
                  <a:srgbClr val="6FAE8B"/>
                </a:solidFill>
                <a:latin typeface="Calibri" pitchFamily="34" charset="0"/>
                <a:ea typeface="Calibri" pitchFamily="34" charset="-122"/>
                <a:cs typeface="Calibri" pitchFamily="34" charset="-120"/>
              </a:rPr>
              <a:t>●  </a:t>
            </a:r>
            <a:r>
              <a:rPr lang="en-US" sz="1130" dirty="0">
                <a:solidFill>
                  <a:srgbClr val="DCEEE8"/>
                </a:solidFill>
                <a:latin typeface="Calibri" pitchFamily="34" charset="0"/>
                <a:ea typeface="Calibri" pitchFamily="34" charset="-122"/>
                <a:cs typeface="Calibri" pitchFamily="34" charset="-120"/>
              </a:rPr>
              <a:t>Adopt budget-based segmentation instead of flat price tiers when profiling target customers.</a:t>
            </a:r>
            <a:endParaRPr lang="en-US" sz="1130" dirty="0"/>
          </a:p>
        </p:txBody>
      </p:sp>
      <p:sp>
        <p:nvSpPr>
          <p:cNvPr id="23" name="Text 21"/>
          <p:cNvSpPr/>
          <p:nvPr/>
        </p:nvSpPr>
        <p:spPr>
          <a:xfrm>
            <a:off x="8311896" y="3547872"/>
            <a:ext cx="3072384" cy="1051560"/>
          </a:xfrm>
          <a:prstGeom prst="rect">
            <a:avLst/>
          </a:prstGeom>
          <a:noFill/>
          <a:ln/>
        </p:spPr>
        <p:txBody>
          <a:bodyPr wrap="square" rtlCol="0" anchor="ctr"/>
          <a:lstStyle/>
          <a:p>
            <a:pPr marL="0" indent="0">
              <a:lnSpc>
                <a:spcPct val="122000"/>
              </a:lnSpc>
              <a:buNone/>
            </a:pPr>
            <a:r>
              <a:rPr lang="en-US" sz="1130" b="1" dirty="0">
                <a:solidFill>
                  <a:srgbClr val="6FAE8B"/>
                </a:solidFill>
                <a:latin typeface="Calibri" pitchFamily="34" charset="0"/>
                <a:ea typeface="Calibri" pitchFamily="34" charset="-122"/>
                <a:cs typeface="Calibri" pitchFamily="34" charset="-120"/>
              </a:rPr>
              <a:t>●  </a:t>
            </a:r>
            <a:r>
              <a:rPr lang="en-US" sz="1130" dirty="0">
                <a:solidFill>
                  <a:srgbClr val="DCEEE8"/>
                </a:solidFill>
                <a:latin typeface="Calibri" pitchFamily="34" charset="0"/>
                <a:ea typeface="Calibri" pitchFamily="34" charset="-122"/>
                <a:cs typeface="Calibri" pitchFamily="34" charset="-120"/>
              </a:rPr>
              <a:t>Treat charging time as a primary product-fit filter, not a secondary spec.</a:t>
            </a:r>
            <a:endParaRPr lang="en-US" sz="1130" dirty="0"/>
          </a:p>
        </p:txBody>
      </p:sp>
      <p:sp>
        <p:nvSpPr>
          <p:cNvPr id="24" name="Text 22"/>
          <p:cNvSpPr/>
          <p:nvPr/>
        </p:nvSpPr>
        <p:spPr>
          <a:xfrm>
            <a:off x="8311896" y="4718304"/>
            <a:ext cx="3072384" cy="1051560"/>
          </a:xfrm>
          <a:prstGeom prst="rect">
            <a:avLst/>
          </a:prstGeom>
          <a:noFill/>
          <a:ln/>
        </p:spPr>
        <p:txBody>
          <a:bodyPr wrap="square" rtlCol="0" anchor="ctr"/>
          <a:lstStyle/>
          <a:p>
            <a:pPr marL="0" indent="0">
              <a:lnSpc>
                <a:spcPct val="122000"/>
              </a:lnSpc>
              <a:buNone/>
            </a:pPr>
            <a:r>
              <a:rPr lang="en-US" sz="1130" b="1" dirty="0">
                <a:solidFill>
                  <a:srgbClr val="6FAE8B"/>
                </a:solidFill>
                <a:latin typeface="Calibri" pitchFamily="34" charset="0"/>
                <a:ea typeface="Calibri" pitchFamily="34" charset="-122"/>
                <a:cs typeface="Calibri" pitchFamily="34" charset="-120"/>
              </a:rPr>
              <a:t>●  </a:t>
            </a:r>
            <a:r>
              <a:rPr lang="en-US" sz="1130" dirty="0">
                <a:solidFill>
                  <a:srgbClr val="DCEEE8"/>
                </a:solidFill>
                <a:latin typeface="Calibri" pitchFamily="34" charset="0"/>
                <a:ea typeface="Calibri" pitchFamily="34" charset="-122"/>
                <a:cs typeface="Calibri" pitchFamily="34" charset="-120"/>
              </a:rPr>
              <a:t>Establish a recurring data-validation step before specs reach decision-facing dashboards.</a:t>
            </a:r>
            <a:endParaRPr lang="en-US" sz="1130" dirty="0"/>
          </a:p>
        </p:txBody>
      </p:sp>
      <p:sp>
        <p:nvSpPr>
          <p:cNvPr id="25" name="Text 23"/>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Recommendations</a:t>
            </a:r>
            <a:endParaRPr lang="en-US" sz="900" dirty="0"/>
          </a:p>
        </p:txBody>
      </p:sp>
      <p:sp>
        <p:nvSpPr>
          <p:cNvPr id="26" name="Text 24"/>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3B2E"/>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023360" cy="4023360"/>
          </a:xfrm>
          <a:prstGeom prst="ellipse">
            <a:avLst/>
          </a:prstGeom>
          <a:solidFill>
            <a:srgbClr val="1F7A6C">
              <a:alpha val="20000"/>
            </a:srgbClr>
          </a:solidFill>
          <a:ln/>
        </p:spPr>
        <p:txBody>
          <a:bodyPr/>
          <a:lstStyle/>
          <a:p>
            <a:endParaRPr lang="en-ID"/>
          </a:p>
        </p:txBody>
      </p:sp>
      <p:sp>
        <p:nvSpPr>
          <p:cNvPr id="3" name="Shape 1"/>
          <p:cNvSpPr/>
          <p:nvPr/>
        </p:nvSpPr>
        <p:spPr>
          <a:xfrm>
            <a:off x="-1280160" y="4572000"/>
            <a:ext cx="3291840" cy="3291840"/>
          </a:xfrm>
          <a:prstGeom prst="ellipse">
            <a:avLst/>
          </a:prstGeom>
          <a:solidFill>
            <a:srgbClr val="6FAE8B">
              <a:alpha val="16000"/>
            </a:srgbClr>
          </a:solidFill>
          <a:ln/>
        </p:spPr>
        <p:txBody>
          <a:bodyPr/>
          <a:lstStyle/>
          <a:p>
            <a:endParaRPr lang="en-ID"/>
          </a:p>
        </p:txBody>
      </p:sp>
      <p:sp>
        <p:nvSpPr>
          <p:cNvPr id="4" name="Text 2"/>
          <p:cNvSpPr/>
          <p:nvPr/>
        </p:nvSpPr>
        <p:spPr>
          <a:xfrm>
            <a:off x="548640" y="457200"/>
            <a:ext cx="5486400" cy="274320"/>
          </a:xfrm>
          <a:prstGeom prst="rect">
            <a:avLst/>
          </a:prstGeom>
          <a:noFill/>
          <a:ln/>
        </p:spPr>
        <p:txBody>
          <a:bodyPr wrap="square" rtlCol="0" anchor="ctr"/>
          <a:lstStyle/>
          <a:p>
            <a:pPr marL="0" indent="0">
              <a:buNone/>
            </a:pPr>
            <a:r>
              <a:rPr lang="en-US" sz="1200" b="1" kern="0" spc="150" dirty="0">
                <a:solidFill>
                  <a:srgbClr val="6FAE8B"/>
                </a:solidFill>
                <a:latin typeface="Calibri" pitchFamily="34" charset="0"/>
                <a:ea typeface="Calibri" pitchFamily="34" charset="-122"/>
                <a:cs typeface="Calibri" pitchFamily="34" charset="-120"/>
              </a:rPr>
              <a:t>CONCLUSION</a:t>
            </a:r>
            <a:endParaRPr lang="en-US" sz="1200" dirty="0"/>
          </a:p>
        </p:txBody>
      </p:sp>
      <p:sp>
        <p:nvSpPr>
          <p:cNvPr id="5" name="Text 3"/>
          <p:cNvSpPr/>
          <p:nvPr/>
        </p:nvSpPr>
        <p:spPr>
          <a:xfrm>
            <a:off x="548640" y="777240"/>
            <a:ext cx="10515600" cy="640080"/>
          </a:xfrm>
          <a:prstGeom prst="rect">
            <a:avLst/>
          </a:prstGeom>
          <a:noFill/>
          <a:ln/>
        </p:spPr>
        <p:txBody>
          <a:bodyPr wrap="square"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From Fragmented Specs to Confident Decisions</a:t>
            </a:r>
            <a:endParaRPr lang="en-US" sz="2700" dirty="0"/>
          </a:p>
        </p:txBody>
      </p:sp>
      <p:sp>
        <p:nvSpPr>
          <p:cNvPr id="6" name="Shape 4"/>
          <p:cNvSpPr/>
          <p:nvPr/>
        </p:nvSpPr>
        <p:spPr>
          <a:xfrm>
            <a:off x="548640" y="1737360"/>
            <a:ext cx="2331720" cy="960120"/>
          </a:xfrm>
          <a:prstGeom prst="roundRect">
            <a:avLst>
              <a:gd name="adj" fmla="val 9524"/>
            </a:avLst>
          </a:prstGeom>
          <a:solidFill>
            <a:srgbClr val="0A2E23"/>
          </a:solidFill>
          <a:ln w="12700">
            <a:solidFill>
              <a:srgbClr val="1F7A6C"/>
            </a:solidFill>
            <a:prstDash val="solid"/>
          </a:ln>
        </p:spPr>
        <p:txBody>
          <a:bodyPr/>
          <a:lstStyle/>
          <a:p>
            <a:endParaRPr lang="en-ID"/>
          </a:p>
        </p:txBody>
      </p:sp>
      <p:sp>
        <p:nvSpPr>
          <p:cNvPr id="7" name="Text 5"/>
          <p:cNvSpPr/>
          <p:nvPr/>
        </p:nvSpPr>
        <p:spPr>
          <a:xfrm>
            <a:off x="548640" y="1737360"/>
            <a:ext cx="2331720" cy="960120"/>
          </a:xfrm>
          <a:prstGeom prst="rect">
            <a:avLst/>
          </a:prstGeom>
          <a:noFill/>
          <a:ln/>
        </p:spPr>
        <p:txBody>
          <a:bodyPr wrap="square" rtlCol="0" anchor="ctr"/>
          <a:lstStyle/>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Market</a:t>
            </a:r>
            <a:endParaRPr lang="en-US" sz="1300" dirty="0"/>
          </a:p>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Understanding</a:t>
            </a:r>
            <a:endParaRPr lang="en-US" sz="1300" dirty="0"/>
          </a:p>
        </p:txBody>
      </p:sp>
      <p:sp>
        <p:nvSpPr>
          <p:cNvPr id="8" name="Text 6"/>
          <p:cNvSpPr/>
          <p:nvPr/>
        </p:nvSpPr>
        <p:spPr>
          <a:xfrm>
            <a:off x="2880360" y="2080260"/>
            <a:ext cx="320040" cy="274320"/>
          </a:xfrm>
          <a:prstGeom prst="rect">
            <a:avLst/>
          </a:prstGeom>
          <a:noFill/>
          <a:ln/>
        </p:spPr>
        <p:txBody>
          <a:bodyPr wrap="square" rtlCol="0" anchor="ctr"/>
          <a:lstStyle/>
          <a:p>
            <a:pPr marL="0" indent="0" algn="ctr">
              <a:buNone/>
            </a:pPr>
            <a:r>
              <a:rPr lang="en-US" sz="1600" b="1" dirty="0">
                <a:solidFill>
                  <a:srgbClr val="6FAE8B"/>
                </a:solidFill>
              </a:rPr>
              <a:t>→</a:t>
            </a:r>
            <a:endParaRPr lang="en-US" sz="1600" dirty="0"/>
          </a:p>
        </p:txBody>
      </p:sp>
      <p:sp>
        <p:nvSpPr>
          <p:cNvPr id="9" name="Shape 7"/>
          <p:cNvSpPr/>
          <p:nvPr/>
        </p:nvSpPr>
        <p:spPr>
          <a:xfrm>
            <a:off x="3200400" y="1737360"/>
            <a:ext cx="2331720" cy="960120"/>
          </a:xfrm>
          <a:prstGeom prst="roundRect">
            <a:avLst>
              <a:gd name="adj" fmla="val 9524"/>
            </a:avLst>
          </a:prstGeom>
          <a:solidFill>
            <a:srgbClr val="0A2E23"/>
          </a:solidFill>
          <a:ln w="12700">
            <a:solidFill>
              <a:srgbClr val="1F7A6C"/>
            </a:solidFill>
            <a:prstDash val="solid"/>
          </a:ln>
        </p:spPr>
        <p:txBody>
          <a:bodyPr/>
          <a:lstStyle/>
          <a:p>
            <a:endParaRPr lang="en-ID"/>
          </a:p>
        </p:txBody>
      </p:sp>
      <p:sp>
        <p:nvSpPr>
          <p:cNvPr id="10" name="Text 8"/>
          <p:cNvSpPr/>
          <p:nvPr/>
        </p:nvSpPr>
        <p:spPr>
          <a:xfrm>
            <a:off x="3200400" y="1737360"/>
            <a:ext cx="2331720" cy="960120"/>
          </a:xfrm>
          <a:prstGeom prst="rect">
            <a:avLst/>
          </a:prstGeom>
          <a:noFill/>
          <a:ln/>
        </p:spPr>
        <p:txBody>
          <a:bodyPr wrap="square" rtlCol="0" anchor="ctr"/>
          <a:lstStyle/>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Vehicle</a:t>
            </a:r>
            <a:endParaRPr lang="en-US" sz="1300" dirty="0"/>
          </a:p>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Comparison</a:t>
            </a:r>
            <a:endParaRPr lang="en-US" sz="1300" dirty="0"/>
          </a:p>
        </p:txBody>
      </p:sp>
      <p:sp>
        <p:nvSpPr>
          <p:cNvPr id="11" name="Text 9"/>
          <p:cNvSpPr/>
          <p:nvPr/>
        </p:nvSpPr>
        <p:spPr>
          <a:xfrm>
            <a:off x="5532120" y="2080260"/>
            <a:ext cx="320040" cy="274320"/>
          </a:xfrm>
          <a:prstGeom prst="rect">
            <a:avLst/>
          </a:prstGeom>
          <a:noFill/>
          <a:ln/>
        </p:spPr>
        <p:txBody>
          <a:bodyPr wrap="square" rtlCol="0" anchor="ctr"/>
          <a:lstStyle/>
          <a:p>
            <a:pPr marL="0" indent="0" algn="ctr">
              <a:buNone/>
            </a:pPr>
            <a:r>
              <a:rPr lang="en-US" sz="1600" b="1" dirty="0">
                <a:solidFill>
                  <a:srgbClr val="6FAE8B"/>
                </a:solidFill>
              </a:rPr>
              <a:t>→</a:t>
            </a:r>
            <a:endParaRPr lang="en-US" sz="1600" dirty="0"/>
          </a:p>
        </p:txBody>
      </p:sp>
      <p:sp>
        <p:nvSpPr>
          <p:cNvPr id="12" name="Shape 10"/>
          <p:cNvSpPr/>
          <p:nvPr/>
        </p:nvSpPr>
        <p:spPr>
          <a:xfrm>
            <a:off x="5852160" y="1737360"/>
            <a:ext cx="2331720" cy="960120"/>
          </a:xfrm>
          <a:prstGeom prst="roundRect">
            <a:avLst>
              <a:gd name="adj" fmla="val 9524"/>
            </a:avLst>
          </a:prstGeom>
          <a:solidFill>
            <a:srgbClr val="0A2E23"/>
          </a:solidFill>
          <a:ln w="12700">
            <a:solidFill>
              <a:srgbClr val="1F7A6C"/>
            </a:solidFill>
            <a:prstDash val="solid"/>
          </a:ln>
        </p:spPr>
        <p:txBody>
          <a:bodyPr/>
          <a:lstStyle/>
          <a:p>
            <a:endParaRPr lang="en-ID"/>
          </a:p>
        </p:txBody>
      </p:sp>
      <p:sp>
        <p:nvSpPr>
          <p:cNvPr id="13" name="Text 11"/>
          <p:cNvSpPr/>
          <p:nvPr/>
        </p:nvSpPr>
        <p:spPr>
          <a:xfrm>
            <a:off x="5852160" y="1737360"/>
            <a:ext cx="2331720" cy="960120"/>
          </a:xfrm>
          <a:prstGeom prst="rect">
            <a:avLst/>
          </a:prstGeom>
          <a:noFill/>
          <a:ln/>
        </p:spPr>
        <p:txBody>
          <a:bodyPr wrap="square" rtlCol="0" anchor="ctr"/>
          <a:lstStyle/>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Budget</a:t>
            </a:r>
            <a:endParaRPr lang="en-US" sz="1300" dirty="0"/>
          </a:p>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Simulation</a:t>
            </a:r>
            <a:endParaRPr lang="en-US" sz="1300" dirty="0"/>
          </a:p>
        </p:txBody>
      </p:sp>
      <p:sp>
        <p:nvSpPr>
          <p:cNvPr id="14" name="Text 12"/>
          <p:cNvSpPr/>
          <p:nvPr/>
        </p:nvSpPr>
        <p:spPr>
          <a:xfrm>
            <a:off x="8183880" y="2080260"/>
            <a:ext cx="320040" cy="274320"/>
          </a:xfrm>
          <a:prstGeom prst="rect">
            <a:avLst/>
          </a:prstGeom>
          <a:noFill/>
          <a:ln/>
        </p:spPr>
        <p:txBody>
          <a:bodyPr wrap="square" rtlCol="0" anchor="ctr"/>
          <a:lstStyle/>
          <a:p>
            <a:pPr marL="0" indent="0" algn="ctr">
              <a:buNone/>
            </a:pPr>
            <a:r>
              <a:rPr lang="en-US" sz="1600" b="1" dirty="0">
                <a:solidFill>
                  <a:srgbClr val="6FAE8B"/>
                </a:solidFill>
              </a:rPr>
              <a:t>→</a:t>
            </a:r>
            <a:endParaRPr lang="en-US" sz="1600" dirty="0"/>
          </a:p>
        </p:txBody>
      </p:sp>
      <p:sp>
        <p:nvSpPr>
          <p:cNvPr id="15" name="Shape 13"/>
          <p:cNvSpPr/>
          <p:nvPr/>
        </p:nvSpPr>
        <p:spPr>
          <a:xfrm>
            <a:off x="8503920" y="1737360"/>
            <a:ext cx="2331720" cy="960120"/>
          </a:xfrm>
          <a:prstGeom prst="roundRect">
            <a:avLst>
              <a:gd name="adj" fmla="val 9524"/>
            </a:avLst>
          </a:prstGeom>
          <a:solidFill>
            <a:srgbClr val="0A2E23"/>
          </a:solidFill>
          <a:ln w="12700">
            <a:solidFill>
              <a:srgbClr val="1F7A6C"/>
            </a:solidFill>
            <a:prstDash val="solid"/>
          </a:ln>
        </p:spPr>
        <p:txBody>
          <a:bodyPr/>
          <a:lstStyle/>
          <a:p>
            <a:endParaRPr lang="en-ID"/>
          </a:p>
        </p:txBody>
      </p:sp>
      <p:sp>
        <p:nvSpPr>
          <p:cNvPr id="16" name="Text 14"/>
          <p:cNvSpPr/>
          <p:nvPr/>
        </p:nvSpPr>
        <p:spPr>
          <a:xfrm>
            <a:off x="8503920" y="1737360"/>
            <a:ext cx="2331720" cy="960120"/>
          </a:xfrm>
          <a:prstGeom prst="rect">
            <a:avLst/>
          </a:prstGeom>
          <a:noFill/>
          <a:ln/>
        </p:spPr>
        <p:txBody>
          <a:bodyPr wrap="square" rtlCol="0" anchor="ctr"/>
          <a:lstStyle/>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Decision</a:t>
            </a:r>
            <a:endParaRPr lang="en-US" sz="1300" dirty="0"/>
          </a:p>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Support</a:t>
            </a:r>
            <a:endParaRPr lang="en-US" sz="1300" dirty="0"/>
          </a:p>
        </p:txBody>
      </p:sp>
      <p:sp>
        <p:nvSpPr>
          <p:cNvPr id="17" name="Shape 15"/>
          <p:cNvSpPr/>
          <p:nvPr/>
        </p:nvSpPr>
        <p:spPr>
          <a:xfrm>
            <a:off x="548640" y="3063240"/>
            <a:ext cx="11091672" cy="1417320"/>
          </a:xfrm>
          <a:prstGeom prst="roundRect">
            <a:avLst>
              <a:gd name="adj" fmla="val 5806"/>
            </a:avLst>
          </a:prstGeom>
          <a:solidFill>
            <a:srgbClr val="0A2E23"/>
          </a:solidFill>
          <a:ln/>
        </p:spPr>
        <p:txBody>
          <a:bodyPr/>
          <a:lstStyle/>
          <a:p>
            <a:endParaRPr lang="en-ID"/>
          </a:p>
        </p:txBody>
      </p:sp>
      <p:sp>
        <p:nvSpPr>
          <p:cNvPr id="18" name="Text 16"/>
          <p:cNvSpPr/>
          <p:nvPr/>
        </p:nvSpPr>
        <p:spPr>
          <a:xfrm>
            <a:off x="868680" y="3246120"/>
            <a:ext cx="10424160" cy="1051560"/>
          </a:xfrm>
          <a:prstGeom prst="rect">
            <a:avLst/>
          </a:prstGeom>
          <a:noFill/>
          <a:ln/>
        </p:spPr>
        <p:txBody>
          <a:bodyPr wrap="square" rtlCol="0" anchor="ctr"/>
          <a:lstStyle/>
          <a:p>
            <a:pPr marL="0" indent="0">
              <a:lnSpc>
                <a:spcPct val="125000"/>
              </a:lnSpc>
              <a:buNone/>
            </a:pPr>
            <a:r>
              <a:rPr lang="en-US" sz="1550" i="1" dirty="0">
                <a:solidFill>
                  <a:srgbClr val="DCEEE8"/>
                </a:solidFill>
                <a:latin typeface="Cambria" pitchFamily="34" charset="0"/>
                <a:ea typeface="Cambria" pitchFamily="34" charset="-122"/>
                <a:cs typeface="Cambria" pitchFamily="34" charset="-120"/>
              </a:rPr>
              <a:t>“The dashboard transforms fragmented EV specifications into an interactive decision-support tool, allowing users to evaluate market positioning, compare vehicle performance, and identify suitable EV options within a defined budget.”</a:t>
            </a:r>
            <a:endParaRPr lang="en-US" sz="1550" dirty="0"/>
          </a:p>
        </p:txBody>
      </p:sp>
      <p:sp>
        <p:nvSpPr>
          <p:cNvPr id="19" name="Text 17"/>
          <p:cNvSpPr/>
          <p:nvPr/>
        </p:nvSpPr>
        <p:spPr>
          <a:xfrm>
            <a:off x="548640" y="4709160"/>
            <a:ext cx="10881360" cy="640080"/>
          </a:xfrm>
          <a:prstGeom prst="rect">
            <a:avLst/>
          </a:prstGeom>
          <a:noFill/>
          <a:ln/>
        </p:spPr>
        <p:txBody>
          <a:bodyPr wrap="square" rtlCol="0" anchor="ctr"/>
          <a:lstStyle/>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Built end-to-end — from raw, imperfect specifications to an interactive Power BI experience — this project reflects how data analysis turns scattered numbers into confident, budget-aware decisions.</a:t>
            </a:r>
            <a:endParaRPr lang="en-US" sz="1350" dirty="0"/>
          </a:p>
        </p:txBody>
      </p:sp>
      <p:sp>
        <p:nvSpPr>
          <p:cNvPr id="20" name="Text 18"/>
          <p:cNvSpPr/>
          <p:nvPr/>
        </p:nvSpPr>
        <p:spPr>
          <a:xfrm>
            <a:off x="548640" y="5669280"/>
            <a:ext cx="10058400" cy="365760"/>
          </a:xfrm>
          <a:prstGeom prst="rect">
            <a:avLst/>
          </a:prstGeom>
          <a:noFill/>
          <a:ln/>
        </p:spPr>
        <p:txBody>
          <a:bodyPr wrap="square" rtlCol="0" anchor="ctr"/>
          <a:lstStyle/>
          <a:p>
            <a:r>
              <a:rPr lang="en-US" sz="1200" dirty="0">
                <a:solidFill>
                  <a:srgbClr val="6FAE8B"/>
                </a:solidFill>
                <a:latin typeface="Calibri" pitchFamily="34" charset="0"/>
                <a:ea typeface="Calibri" pitchFamily="34" charset="-122"/>
                <a:cs typeface="Calibri" pitchFamily="34" charset="-120"/>
              </a:rPr>
              <a:t>[Brian Naufal]  •  [brian.naufal5420@gmail.com]  •  brian naufal  •  https://briannaufal-portfolio.netlify.app/</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APPENDIX A — DAX</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DAX Measures</a:t>
            </a:r>
            <a:endParaRPr lang="en-US" sz="3000" dirty="0"/>
          </a:p>
        </p:txBody>
      </p:sp>
      <p:sp>
        <p:nvSpPr>
          <p:cNvPr id="4" name="Text 2"/>
          <p:cNvSpPr/>
          <p:nvPr/>
        </p:nvSpPr>
        <p:spPr>
          <a:xfrm>
            <a:off x="548640" y="1234440"/>
            <a:ext cx="9144000" cy="292608"/>
          </a:xfrm>
          <a:prstGeom prst="rect">
            <a:avLst/>
          </a:prstGeom>
          <a:noFill/>
          <a:ln/>
        </p:spPr>
        <p:txBody>
          <a:bodyPr wrap="square" rtlCol="0" anchor="ctr"/>
          <a:lstStyle/>
          <a:p>
            <a:pPr marL="0" indent="0">
              <a:buNone/>
            </a:pPr>
            <a:r>
              <a:rPr lang="en-US" sz="1150" i="1" dirty="0">
                <a:solidFill>
                  <a:srgbClr val="5B6B63"/>
                </a:solidFill>
                <a:latin typeface="Calibri" pitchFamily="34" charset="0"/>
                <a:ea typeface="Calibri" pitchFamily="34" charset="-122"/>
                <a:cs typeface="Calibri" pitchFamily="34" charset="-120"/>
              </a:rPr>
              <a:t>Core measures and calculated columns behind every KPI, chart, and simulator on the dashboard.</a:t>
            </a:r>
            <a:endParaRPr lang="en-US" sz="1150" dirty="0"/>
          </a:p>
        </p:txBody>
      </p:sp>
      <p:sp>
        <p:nvSpPr>
          <p:cNvPr id="5" name="Shape 3"/>
          <p:cNvSpPr/>
          <p:nvPr/>
        </p:nvSpPr>
        <p:spPr>
          <a:xfrm>
            <a:off x="548640" y="169164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6" name="Text 4"/>
          <p:cNvSpPr/>
          <p:nvPr/>
        </p:nvSpPr>
        <p:spPr>
          <a:xfrm>
            <a:off x="749808" y="1819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1417320" y="1819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Core KPI Measures</a:t>
            </a:r>
            <a:endParaRPr lang="en-US" sz="1400" dirty="0"/>
          </a:p>
        </p:txBody>
      </p:sp>
      <p:sp>
        <p:nvSpPr>
          <p:cNvPr id="8" name="Text 6"/>
          <p:cNvSpPr/>
          <p:nvPr/>
        </p:nvSpPr>
        <p:spPr>
          <a:xfrm>
            <a:off x="749808" y="225856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Baseline metrics reused across every page.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Total EV, Avg Price (Valid), Avg Range, Avg Battery, Avg Power, Avg Charging Time — explicit DAX measures over EV_Data, not default field summarization.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One reusable source of truth per KPI, instead of re-deriving the same aggregation in every card.</a:t>
            </a:r>
            <a:endParaRPr lang="en-US" sz="900" dirty="0"/>
          </a:p>
        </p:txBody>
      </p:sp>
      <p:sp>
        <p:nvSpPr>
          <p:cNvPr id="9" name="Shape 7"/>
          <p:cNvSpPr/>
          <p:nvPr/>
        </p:nvSpPr>
        <p:spPr>
          <a:xfrm>
            <a:off x="6199632" y="169164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0" name="Text 8"/>
          <p:cNvSpPr/>
          <p:nvPr/>
        </p:nvSpPr>
        <p:spPr>
          <a:xfrm>
            <a:off x="6400800" y="1819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7068312" y="1819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Value &amp; Segmentation</a:t>
            </a:r>
            <a:endParaRPr lang="en-US" sz="1400" dirty="0"/>
          </a:p>
        </p:txBody>
      </p:sp>
      <p:sp>
        <p:nvSpPr>
          <p:cNvPr id="12" name="Text 10"/>
          <p:cNvSpPr/>
          <p:nvPr/>
        </p:nvSpPr>
        <p:spPr>
          <a:xfrm>
            <a:off x="6400800" y="225856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Turning raw specs into a comparable score.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Value Score (column) = Range ÷ Valid Price. Price Segment (column) buckets each model into Entry / Mid / Premium / Data Tidak Valid.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Enables Top-N ranking and price-tier analysis without repeating logic inside every visual.</a:t>
            </a:r>
            <a:endParaRPr lang="en-US" sz="900" dirty="0"/>
          </a:p>
        </p:txBody>
      </p:sp>
      <p:sp>
        <p:nvSpPr>
          <p:cNvPr id="13" name="Shape 11"/>
          <p:cNvSpPr/>
          <p:nvPr/>
        </p:nvSpPr>
        <p:spPr>
          <a:xfrm>
            <a:off x="548640" y="365760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4" name="Text 12"/>
          <p:cNvSpPr/>
          <p:nvPr/>
        </p:nvSpPr>
        <p:spPr>
          <a:xfrm>
            <a:off x="749808" y="378561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03</a:t>
            </a:r>
            <a:endParaRPr lang="en-US" sz="2200" dirty="0"/>
          </a:p>
        </p:txBody>
      </p:sp>
      <p:sp>
        <p:nvSpPr>
          <p:cNvPr id="15" name="Text 13"/>
          <p:cNvSpPr/>
          <p:nvPr/>
        </p:nvSpPr>
        <p:spPr>
          <a:xfrm>
            <a:off x="1417320" y="378561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Budget Simulator Logic</a:t>
            </a:r>
            <a:endParaRPr lang="en-US" sz="1400" dirty="0"/>
          </a:p>
        </p:txBody>
      </p:sp>
      <p:sp>
        <p:nvSpPr>
          <p:cNvPr id="16" name="Text 14"/>
          <p:cNvSpPr/>
          <p:nvPr/>
        </p:nvSpPr>
        <p:spPr>
          <a:xfrm>
            <a:off x="749808" y="422452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Dynamic filtering driven by a What-if Parameter.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EV Within Budget, Avg Range Within Budget, Best Value Within Budget — built with CALCULATE + SELECTEDVALUE against the Budget Simulation parameter.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Every card on the Budget Simulation page reacts instantly to the slider — no manual filtering.</a:t>
            </a:r>
            <a:endParaRPr lang="en-US" sz="900" dirty="0"/>
          </a:p>
        </p:txBody>
      </p:sp>
      <p:sp>
        <p:nvSpPr>
          <p:cNvPr id="17" name="Shape 15"/>
          <p:cNvSpPr/>
          <p:nvPr/>
        </p:nvSpPr>
        <p:spPr>
          <a:xfrm>
            <a:off x="6199632" y="365760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8" name="Text 16"/>
          <p:cNvSpPr/>
          <p:nvPr/>
        </p:nvSpPr>
        <p:spPr>
          <a:xfrm>
            <a:off x="6400800" y="378561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04</a:t>
            </a:r>
            <a:endParaRPr lang="en-US" sz="2200" dirty="0"/>
          </a:p>
        </p:txBody>
      </p:sp>
      <p:sp>
        <p:nvSpPr>
          <p:cNvPr id="19" name="Text 17"/>
          <p:cNvSpPr/>
          <p:nvPr/>
        </p:nvSpPr>
        <p:spPr>
          <a:xfrm>
            <a:off x="7068312" y="378561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Insight &amp; Correlation</a:t>
            </a:r>
            <a:endParaRPr lang="en-US" sz="1400" dirty="0"/>
          </a:p>
        </p:txBody>
      </p:sp>
      <p:sp>
        <p:nvSpPr>
          <p:cNvPr id="20" name="Text 18"/>
          <p:cNvSpPr/>
          <p:nvPr/>
        </p:nvSpPr>
        <p:spPr>
          <a:xfrm>
            <a:off x="6400800" y="422452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Text measures that narrate the data.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Power Range Correlation (Pearson r via SUMX/AVERAGE), Dominant Segment Name/Count, Fastest/Slowest Charging Model feed the Business Insight page’s dynamic sentences.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Insight text updates itself as data changes, instead of being hard-coded.</a:t>
            </a:r>
            <a:endParaRPr lang="en-US" sz="900" dirty="0"/>
          </a:p>
        </p:txBody>
      </p:sp>
      <p:sp>
        <p:nvSpPr>
          <p:cNvPr id="21" name="Shape 19"/>
          <p:cNvSpPr/>
          <p:nvPr/>
        </p:nvSpPr>
        <p:spPr>
          <a:xfrm>
            <a:off x="548640" y="5623560"/>
            <a:ext cx="11091672" cy="868680"/>
          </a:xfrm>
          <a:prstGeom prst="roundRect">
            <a:avLst>
              <a:gd name="adj" fmla="val 9474"/>
            </a:avLst>
          </a:prstGeom>
          <a:solidFill>
            <a:srgbClr val="0E3B2E"/>
          </a:solidFill>
          <a:ln/>
        </p:spPr>
        <p:txBody>
          <a:bodyPr/>
          <a:lstStyle/>
          <a:p>
            <a:endParaRPr lang="en-ID"/>
          </a:p>
        </p:txBody>
      </p:sp>
      <p:sp>
        <p:nvSpPr>
          <p:cNvPr id="22" name="Text 20"/>
          <p:cNvSpPr/>
          <p:nvPr/>
        </p:nvSpPr>
        <p:spPr>
          <a:xfrm>
            <a:off x="868680" y="5623560"/>
            <a:ext cx="10424160" cy="868680"/>
          </a:xfrm>
          <a:prstGeom prst="rect">
            <a:avLst/>
          </a:prstGeom>
          <a:noFill/>
          <a:ln/>
        </p:spPr>
        <p:txBody>
          <a:bodyPr wrap="square" rtlCol="0" anchor="ctr"/>
          <a:lstStyle/>
          <a:p>
            <a:pPr marL="0" indent="0">
              <a:lnSpc>
                <a:spcPct val="120000"/>
              </a:lnSpc>
              <a:buNone/>
            </a:pPr>
            <a:r>
              <a:rPr lang="en-US" sz="1200" b="1" dirty="0">
                <a:solidFill>
                  <a:srgbClr val="6FAE8B"/>
                </a:solidFill>
                <a:latin typeface="Calibri" pitchFamily="34" charset="0"/>
                <a:ea typeface="Calibri" pitchFamily="34" charset="-122"/>
                <a:cs typeface="Calibri" pitchFamily="34" charset="-120"/>
              </a:rPr>
              <a:t>DAX DESIGN PRINCIPLE   </a:t>
            </a:r>
            <a:r>
              <a:rPr lang="en-US" sz="1300" dirty="0">
                <a:solidFill>
                  <a:srgbClr val="FFFFFF"/>
                </a:solidFill>
                <a:latin typeface="Calibri" pitchFamily="34" charset="0"/>
                <a:ea typeface="Calibri" pitchFamily="34" charset="-122"/>
                <a:cs typeface="Calibri" pitchFamily="34" charset="-120"/>
              </a:rPr>
              <a:t>Every price-based measure explicitly excludes the 12 flagged invalid-price rows — accuracy is enforced once, in the model layer, not left to each visual.</a:t>
            </a:r>
            <a:endParaRPr lang="en-US" sz="1200" dirty="0"/>
          </a:p>
        </p:txBody>
      </p:sp>
      <p:sp>
        <p:nvSpPr>
          <p:cNvPr id="23" name="Text 21"/>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DAX Measures</a:t>
            </a:r>
            <a:endParaRPr lang="en-US" sz="900" dirty="0"/>
          </a:p>
        </p:txBody>
      </p:sp>
      <p:sp>
        <p:nvSpPr>
          <p:cNvPr id="24" name="Text 22"/>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APPENDIX B — DATA MODEL</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Data Model</a:t>
            </a:r>
            <a:endParaRPr lang="en-US" sz="3000" dirty="0"/>
          </a:p>
        </p:txBody>
      </p:sp>
      <p:sp>
        <p:nvSpPr>
          <p:cNvPr id="4" name="Text 2"/>
          <p:cNvSpPr/>
          <p:nvPr/>
        </p:nvSpPr>
        <p:spPr>
          <a:xfrm>
            <a:off x="548640" y="1234440"/>
            <a:ext cx="9144000" cy="292608"/>
          </a:xfrm>
          <a:prstGeom prst="rect">
            <a:avLst/>
          </a:prstGeom>
          <a:noFill/>
          <a:ln/>
        </p:spPr>
        <p:txBody>
          <a:bodyPr wrap="square" rtlCol="0" anchor="ctr"/>
          <a:lstStyle/>
          <a:p>
            <a:pPr marL="0" indent="0">
              <a:buNone/>
            </a:pPr>
            <a:r>
              <a:rPr lang="en-US" sz="1150" i="1" dirty="0">
                <a:solidFill>
                  <a:srgbClr val="5B6B63"/>
                </a:solidFill>
                <a:latin typeface="Calibri" pitchFamily="34" charset="0"/>
                <a:ea typeface="Calibri" pitchFamily="34" charset="-122"/>
                <a:cs typeface="Calibri" pitchFamily="34" charset="-120"/>
              </a:rPr>
              <a:t>A single fact table, one disconnected parameter, and validation built into the columns.</a:t>
            </a:r>
            <a:endParaRPr lang="en-US" sz="1150" dirty="0"/>
          </a:p>
        </p:txBody>
      </p:sp>
      <p:sp>
        <p:nvSpPr>
          <p:cNvPr id="5" name="Shape 3"/>
          <p:cNvSpPr/>
          <p:nvPr/>
        </p:nvSpPr>
        <p:spPr>
          <a:xfrm>
            <a:off x="548640" y="169164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6" name="Text 4"/>
          <p:cNvSpPr/>
          <p:nvPr/>
        </p:nvSpPr>
        <p:spPr>
          <a:xfrm>
            <a:off x="749808" y="1819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1417320" y="1819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Grain: One Row per Vehicle</a:t>
            </a:r>
            <a:endParaRPr lang="en-US" sz="1400" dirty="0"/>
          </a:p>
        </p:txBody>
      </p:sp>
      <p:sp>
        <p:nvSpPr>
          <p:cNvPr id="8" name="Text 6"/>
          <p:cNvSpPr/>
          <p:nvPr/>
        </p:nvSpPr>
        <p:spPr>
          <a:xfrm>
            <a:off x="749808" y="225856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EV_Data holds 60 rows — 1 row = 1 model, verified with no duplicates.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e.g. “BMW i5” appears exactly once; Price, Range, Battery and Power all sit at the same vehicle-level grain.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Row-level calculated columns behave predictably inside Table and Bar chart visuals.</a:t>
            </a:r>
            <a:endParaRPr lang="en-US" sz="900" dirty="0"/>
          </a:p>
        </p:txBody>
      </p:sp>
      <p:sp>
        <p:nvSpPr>
          <p:cNvPr id="9" name="Shape 7"/>
          <p:cNvSpPr/>
          <p:nvPr/>
        </p:nvSpPr>
        <p:spPr>
          <a:xfrm>
            <a:off x="6199632" y="169164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0" name="Text 8"/>
          <p:cNvSpPr/>
          <p:nvPr/>
        </p:nvSpPr>
        <p:spPr>
          <a:xfrm>
            <a:off x="6400800" y="1819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7068312" y="1819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Calculated Columns</a:t>
            </a:r>
            <a:endParaRPr lang="en-US" sz="1400" dirty="0"/>
          </a:p>
        </p:txBody>
      </p:sp>
      <p:sp>
        <p:nvSpPr>
          <p:cNvPr id="12" name="Text 10"/>
          <p:cNvSpPr/>
          <p:nvPr/>
        </p:nvSpPr>
        <p:spPr>
          <a:xfrm>
            <a:off x="6400800" y="225856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Four columns layered on top of the raw fields.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Brand (Power Query text split), Price Segment, Valid Price, and Value Score — all row-level DAX columns on EV_Data.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Data-quality logic lives once in the model, instead of being repeated across 20+ visuals.</a:t>
            </a:r>
            <a:endParaRPr lang="en-US" sz="900" dirty="0"/>
          </a:p>
        </p:txBody>
      </p:sp>
      <p:sp>
        <p:nvSpPr>
          <p:cNvPr id="13" name="Shape 11"/>
          <p:cNvSpPr/>
          <p:nvPr/>
        </p:nvSpPr>
        <p:spPr>
          <a:xfrm>
            <a:off x="548640" y="365760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4" name="Text 12"/>
          <p:cNvSpPr/>
          <p:nvPr/>
        </p:nvSpPr>
        <p:spPr>
          <a:xfrm>
            <a:off x="749808" y="378561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03</a:t>
            </a:r>
            <a:endParaRPr lang="en-US" sz="2200" dirty="0"/>
          </a:p>
        </p:txBody>
      </p:sp>
      <p:sp>
        <p:nvSpPr>
          <p:cNvPr id="15" name="Text 13"/>
          <p:cNvSpPr/>
          <p:nvPr/>
        </p:nvSpPr>
        <p:spPr>
          <a:xfrm>
            <a:off x="1417320" y="378561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Budget Simulation Parameter</a:t>
            </a:r>
            <a:endParaRPr lang="en-US" sz="1400" dirty="0"/>
          </a:p>
        </p:txBody>
      </p:sp>
      <p:sp>
        <p:nvSpPr>
          <p:cNvPr id="16" name="Text 14"/>
          <p:cNvSpPr/>
          <p:nvPr/>
        </p:nvSpPr>
        <p:spPr>
          <a:xfrm>
            <a:off x="749808" y="422452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A disconnected What-if numeric-range table.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‘Budget Simulation (IDR Juta)’ has no relationship to EV_Data — its selected value is read via SELECTEDVALUE inside measures.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Standard pattern for slider-driven simulators that don’t require row-level filtering through relationships.</a:t>
            </a:r>
            <a:endParaRPr lang="en-US" sz="900" dirty="0"/>
          </a:p>
        </p:txBody>
      </p:sp>
      <p:sp>
        <p:nvSpPr>
          <p:cNvPr id="17" name="Shape 15"/>
          <p:cNvSpPr/>
          <p:nvPr/>
        </p:nvSpPr>
        <p:spPr>
          <a:xfrm>
            <a:off x="6199632" y="365760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8" name="Text 16"/>
          <p:cNvSpPr/>
          <p:nvPr/>
        </p:nvSpPr>
        <p:spPr>
          <a:xfrm>
            <a:off x="6400800" y="378561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04</a:t>
            </a:r>
            <a:endParaRPr lang="en-US" sz="2200" dirty="0"/>
          </a:p>
        </p:txBody>
      </p:sp>
      <p:sp>
        <p:nvSpPr>
          <p:cNvPr id="19" name="Text 17"/>
          <p:cNvSpPr/>
          <p:nvPr/>
        </p:nvSpPr>
        <p:spPr>
          <a:xfrm>
            <a:off x="7068312" y="378561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A Flat, Single-Table Model</a:t>
            </a:r>
            <a:endParaRPr lang="en-US" sz="1400" dirty="0"/>
          </a:p>
        </p:txBody>
      </p:sp>
      <p:sp>
        <p:nvSpPr>
          <p:cNvPr id="20" name="Text 18"/>
          <p:cNvSpPr/>
          <p:nvPr/>
        </p:nvSpPr>
        <p:spPr>
          <a:xfrm>
            <a:off x="6400800" y="422452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No date dimension or extra relationships needed.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Every field lives directly on EV_Data — there is no time-series analysis requiring a calendar table here.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Keeps the model simple and avoids relationship-management overhead.</a:t>
            </a:r>
            <a:endParaRPr lang="en-US" sz="900" dirty="0"/>
          </a:p>
        </p:txBody>
      </p:sp>
      <p:sp>
        <p:nvSpPr>
          <p:cNvPr id="21" name="Shape 19"/>
          <p:cNvSpPr/>
          <p:nvPr/>
        </p:nvSpPr>
        <p:spPr>
          <a:xfrm>
            <a:off x="548640" y="5623560"/>
            <a:ext cx="11091672" cy="868680"/>
          </a:xfrm>
          <a:prstGeom prst="roundRect">
            <a:avLst>
              <a:gd name="adj" fmla="val 9474"/>
            </a:avLst>
          </a:prstGeom>
          <a:solidFill>
            <a:srgbClr val="0E3B2E"/>
          </a:solidFill>
          <a:ln/>
        </p:spPr>
        <p:txBody>
          <a:bodyPr/>
          <a:lstStyle/>
          <a:p>
            <a:endParaRPr lang="en-ID"/>
          </a:p>
        </p:txBody>
      </p:sp>
      <p:sp>
        <p:nvSpPr>
          <p:cNvPr id="22" name="Text 20"/>
          <p:cNvSpPr/>
          <p:nvPr/>
        </p:nvSpPr>
        <p:spPr>
          <a:xfrm>
            <a:off x="868680" y="5623560"/>
            <a:ext cx="10424160" cy="868680"/>
          </a:xfrm>
          <a:prstGeom prst="rect">
            <a:avLst/>
          </a:prstGeom>
          <a:noFill/>
          <a:ln/>
        </p:spPr>
        <p:txBody>
          <a:bodyPr wrap="square" rtlCol="0" anchor="ctr"/>
          <a:lstStyle/>
          <a:p>
            <a:pPr marL="0" indent="0">
              <a:lnSpc>
                <a:spcPct val="120000"/>
              </a:lnSpc>
              <a:buNone/>
            </a:pPr>
            <a:r>
              <a:rPr lang="en-US" sz="1200" b="1" dirty="0">
                <a:solidFill>
                  <a:srgbClr val="6FAE8B"/>
                </a:solidFill>
                <a:latin typeface="Calibri" pitchFamily="34" charset="0"/>
                <a:ea typeface="Calibri" pitchFamily="34" charset="-122"/>
                <a:cs typeface="Calibri" pitchFamily="34" charset="-120"/>
              </a:rPr>
              <a:t>MODEL DESIGN PRINCIPLE   </a:t>
            </a:r>
            <a:r>
              <a:rPr lang="en-US" sz="1300" dirty="0">
                <a:solidFill>
                  <a:srgbClr val="FFFFFF"/>
                </a:solidFill>
                <a:latin typeface="Calibri" pitchFamily="34" charset="0"/>
                <a:ea typeface="Calibri" pitchFamily="34" charset="-122"/>
                <a:cs typeface="Calibri" pitchFamily="34" charset="-120"/>
              </a:rPr>
              <a:t>Data-quality flags (Price Segment = “Data Tidak Valid”) live in the model layer, so every page inherits one single definition of “invalid.”</a:t>
            </a:r>
            <a:endParaRPr lang="en-US" sz="1200" dirty="0"/>
          </a:p>
        </p:txBody>
      </p:sp>
      <p:sp>
        <p:nvSpPr>
          <p:cNvPr id="23" name="Text 21"/>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Data Model</a:t>
            </a:r>
            <a:endParaRPr lang="en-US" sz="900" dirty="0"/>
          </a:p>
        </p:txBody>
      </p:sp>
      <p:sp>
        <p:nvSpPr>
          <p:cNvPr id="24" name="Text 22"/>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APPENDIX C — INTERACTIVITY</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Interactivity Features</a:t>
            </a:r>
            <a:endParaRPr lang="en-US" sz="3000" dirty="0"/>
          </a:p>
        </p:txBody>
      </p:sp>
      <p:sp>
        <p:nvSpPr>
          <p:cNvPr id="4" name="Text 2"/>
          <p:cNvSpPr/>
          <p:nvPr/>
        </p:nvSpPr>
        <p:spPr>
          <a:xfrm>
            <a:off x="548640" y="1234440"/>
            <a:ext cx="9144000" cy="292608"/>
          </a:xfrm>
          <a:prstGeom prst="rect">
            <a:avLst/>
          </a:prstGeom>
          <a:noFill/>
          <a:ln/>
        </p:spPr>
        <p:txBody>
          <a:bodyPr wrap="square" rtlCol="0" anchor="ctr"/>
          <a:lstStyle/>
          <a:p>
            <a:pPr marL="0" indent="0">
              <a:buNone/>
            </a:pPr>
            <a:r>
              <a:rPr lang="en-US" sz="1150" i="1" dirty="0">
                <a:solidFill>
                  <a:srgbClr val="5B6B63"/>
                </a:solidFill>
                <a:latin typeface="Calibri" pitchFamily="34" charset="0"/>
                <a:ea typeface="Calibri" pitchFamily="34" charset="-122"/>
                <a:cs typeface="Calibri" pitchFamily="34" charset="-120"/>
              </a:rPr>
              <a:t>How users explore the dashboard beyond static charts.</a:t>
            </a:r>
            <a:endParaRPr lang="en-US" sz="1150" dirty="0"/>
          </a:p>
        </p:txBody>
      </p:sp>
      <p:sp>
        <p:nvSpPr>
          <p:cNvPr id="5" name="Shape 3"/>
          <p:cNvSpPr/>
          <p:nvPr/>
        </p:nvSpPr>
        <p:spPr>
          <a:xfrm>
            <a:off x="548640" y="169164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6" name="Text 4"/>
          <p:cNvSpPr/>
          <p:nvPr/>
        </p:nvSpPr>
        <p:spPr>
          <a:xfrm>
            <a:off x="749808" y="1819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1417320" y="1819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Slicers &amp; Filters</a:t>
            </a:r>
            <a:endParaRPr lang="en-US" sz="1400" dirty="0"/>
          </a:p>
        </p:txBody>
      </p:sp>
      <p:sp>
        <p:nvSpPr>
          <p:cNvPr id="8" name="Text 6"/>
          <p:cNvSpPr/>
          <p:nvPr/>
        </p:nvSpPr>
        <p:spPr>
          <a:xfrm>
            <a:off x="749808" y="225856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Four interactive filters on the Overview page.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Vehicle Name, Seating Min, Price Avg (range slider), Charging Time (range slider).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Any stakeholder can narrow the catalog to their own criteria without editing the report.</a:t>
            </a:r>
            <a:endParaRPr lang="en-US" sz="900" dirty="0"/>
          </a:p>
        </p:txBody>
      </p:sp>
      <p:sp>
        <p:nvSpPr>
          <p:cNvPr id="9" name="Shape 7"/>
          <p:cNvSpPr/>
          <p:nvPr/>
        </p:nvSpPr>
        <p:spPr>
          <a:xfrm>
            <a:off x="6199632" y="169164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0" name="Text 8"/>
          <p:cNvSpPr/>
          <p:nvPr/>
        </p:nvSpPr>
        <p:spPr>
          <a:xfrm>
            <a:off x="6400800" y="1819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7068312" y="1819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Custom Tooltip Page</a:t>
            </a:r>
            <a:endParaRPr lang="en-US" sz="1400" dirty="0"/>
          </a:p>
        </p:txBody>
      </p:sp>
      <p:sp>
        <p:nvSpPr>
          <p:cNvPr id="12" name="Text 10"/>
          <p:cNvSpPr/>
          <p:nvPr/>
        </p:nvSpPr>
        <p:spPr>
          <a:xfrm>
            <a:off x="6400800" y="225856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A dedicated mini-page shown on hover.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‘Tootlip Vehicle’ renders Vehicle Name plus 4 spec cards, triggered from both scatter charts via Format → Tooltip → Report page.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Point-level detail on a 60-point scatter plot, without cluttering the chart with labels.</a:t>
            </a:r>
            <a:endParaRPr lang="en-US" sz="900" dirty="0"/>
          </a:p>
        </p:txBody>
      </p:sp>
      <p:sp>
        <p:nvSpPr>
          <p:cNvPr id="13" name="Shape 11"/>
          <p:cNvSpPr/>
          <p:nvPr/>
        </p:nvSpPr>
        <p:spPr>
          <a:xfrm>
            <a:off x="548640" y="365760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4" name="Text 12"/>
          <p:cNvSpPr/>
          <p:nvPr/>
        </p:nvSpPr>
        <p:spPr>
          <a:xfrm>
            <a:off x="749808" y="378561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03</a:t>
            </a:r>
            <a:endParaRPr lang="en-US" sz="2200" dirty="0"/>
          </a:p>
        </p:txBody>
      </p:sp>
      <p:sp>
        <p:nvSpPr>
          <p:cNvPr id="15" name="Text 13"/>
          <p:cNvSpPr/>
          <p:nvPr/>
        </p:nvSpPr>
        <p:spPr>
          <a:xfrm>
            <a:off x="1417320" y="378561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Drillthrough to Vehicle Detail</a:t>
            </a:r>
            <a:endParaRPr lang="en-US" sz="1400" dirty="0"/>
          </a:p>
        </p:txBody>
      </p:sp>
      <p:sp>
        <p:nvSpPr>
          <p:cNvPr id="16" name="Text 14"/>
          <p:cNvSpPr/>
          <p:nvPr/>
        </p:nvSpPr>
        <p:spPr>
          <a:xfrm>
            <a:off x="749808" y="422452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Right-click a bar to open a full spec page.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‘Vehicle Detail’ filters on Vehicle Name and includes a dynamic “Buka Sumber Data” button linking to each model’s source URL.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Turns a ranking chart into a research tool for one model at a time.</a:t>
            </a:r>
            <a:endParaRPr lang="en-US" sz="900" dirty="0"/>
          </a:p>
        </p:txBody>
      </p:sp>
      <p:sp>
        <p:nvSpPr>
          <p:cNvPr id="17" name="Shape 15"/>
          <p:cNvSpPr/>
          <p:nvPr/>
        </p:nvSpPr>
        <p:spPr>
          <a:xfrm>
            <a:off x="6199632" y="365760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8" name="Text 16"/>
          <p:cNvSpPr/>
          <p:nvPr/>
        </p:nvSpPr>
        <p:spPr>
          <a:xfrm>
            <a:off x="6400800" y="378561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04</a:t>
            </a:r>
            <a:endParaRPr lang="en-US" sz="2200" dirty="0"/>
          </a:p>
        </p:txBody>
      </p:sp>
      <p:sp>
        <p:nvSpPr>
          <p:cNvPr id="19" name="Text 17"/>
          <p:cNvSpPr/>
          <p:nvPr/>
        </p:nvSpPr>
        <p:spPr>
          <a:xfrm>
            <a:off x="7068312" y="378561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Sidebar Navigation</a:t>
            </a:r>
            <a:endParaRPr lang="en-US" sz="1400" dirty="0"/>
          </a:p>
        </p:txBody>
      </p:sp>
      <p:sp>
        <p:nvSpPr>
          <p:cNvPr id="20" name="Text 18"/>
          <p:cNvSpPr/>
          <p:nvPr/>
        </p:nvSpPr>
        <p:spPr>
          <a:xfrm>
            <a:off x="6400800" y="422452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Buttons and Page navigation across 5 pages.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Every page carries an identical sidebar; the current page’s button is manually highlighted in dark green on that copy.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Gives the dashboard an app-like navigation feel instead of relying on default page tabs.</a:t>
            </a:r>
            <a:endParaRPr lang="en-US" sz="900" dirty="0"/>
          </a:p>
        </p:txBody>
      </p:sp>
      <p:sp>
        <p:nvSpPr>
          <p:cNvPr id="21" name="Shape 19"/>
          <p:cNvSpPr/>
          <p:nvPr/>
        </p:nvSpPr>
        <p:spPr>
          <a:xfrm>
            <a:off x="548640" y="5623560"/>
            <a:ext cx="11091672" cy="868680"/>
          </a:xfrm>
          <a:prstGeom prst="roundRect">
            <a:avLst>
              <a:gd name="adj" fmla="val 9474"/>
            </a:avLst>
          </a:prstGeom>
          <a:solidFill>
            <a:srgbClr val="0E3B2E"/>
          </a:solidFill>
          <a:ln/>
        </p:spPr>
        <p:txBody>
          <a:bodyPr/>
          <a:lstStyle/>
          <a:p>
            <a:endParaRPr lang="en-ID"/>
          </a:p>
        </p:txBody>
      </p:sp>
      <p:sp>
        <p:nvSpPr>
          <p:cNvPr id="22" name="Text 20"/>
          <p:cNvSpPr/>
          <p:nvPr/>
        </p:nvSpPr>
        <p:spPr>
          <a:xfrm>
            <a:off x="868680" y="5623560"/>
            <a:ext cx="10424160" cy="868680"/>
          </a:xfrm>
          <a:prstGeom prst="rect">
            <a:avLst/>
          </a:prstGeom>
          <a:noFill/>
          <a:ln/>
        </p:spPr>
        <p:txBody>
          <a:bodyPr wrap="square" rtlCol="0" anchor="ctr"/>
          <a:lstStyle/>
          <a:p>
            <a:pPr marL="0" indent="0">
              <a:lnSpc>
                <a:spcPct val="120000"/>
              </a:lnSpc>
              <a:buNone/>
            </a:pPr>
            <a:r>
              <a:rPr lang="en-US" sz="1200" b="1" dirty="0">
                <a:solidFill>
                  <a:srgbClr val="6FAE8B"/>
                </a:solidFill>
                <a:latin typeface="Calibri" pitchFamily="34" charset="0"/>
                <a:ea typeface="Calibri" pitchFamily="34" charset="-122"/>
                <a:cs typeface="Calibri" pitchFamily="34" charset="-120"/>
              </a:rPr>
              <a:t>INTERACTIVITY PRINCIPLE   </a:t>
            </a:r>
            <a:r>
              <a:rPr lang="en-US" sz="1300" dirty="0">
                <a:solidFill>
                  <a:srgbClr val="FFFFFF"/>
                </a:solidFill>
                <a:latin typeface="Calibri" pitchFamily="34" charset="0"/>
                <a:ea typeface="Calibri" pitchFamily="34" charset="-122"/>
                <a:cs typeface="Calibri" pitchFamily="34" charset="-120"/>
              </a:rPr>
              <a:t>Every interactive element was re-tested after the invalid-price fix, so exploration never surfaces the 12 flagged rows as if they were valid.</a:t>
            </a:r>
            <a:endParaRPr lang="en-US" sz="1200" dirty="0"/>
          </a:p>
        </p:txBody>
      </p:sp>
      <p:sp>
        <p:nvSpPr>
          <p:cNvPr id="23" name="Text 21"/>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Interactivity Features</a:t>
            </a:r>
            <a:endParaRPr lang="en-US" sz="900" dirty="0"/>
          </a:p>
        </p:txBody>
      </p:sp>
      <p:sp>
        <p:nvSpPr>
          <p:cNvPr id="24" name="Text 22"/>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APPENDIX D — PLATFORM FEATURES</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Power BI Features Used</a:t>
            </a:r>
            <a:endParaRPr lang="en-US" sz="3000" dirty="0"/>
          </a:p>
        </p:txBody>
      </p:sp>
      <p:sp>
        <p:nvSpPr>
          <p:cNvPr id="4" name="Text 2"/>
          <p:cNvSpPr/>
          <p:nvPr/>
        </p:nvSpPr>
        <p:spPr>
          <a:xfrm>
            <a:off x="548640" y="1234440"/>
            <a:ext cx="9144000" cy="292608"/>
          </a:xfrm>
          <a:prstGeom prst="rect">
            <a:avLst/>
          </a:prstGeom>
          <a:noFill/>
          <a:ln/>
        </p:spPr>
        <p:txBody>
          <a:bodyPr wrap="square" rtlCol="0" anchor="ctr"/>
          <a:lstStyle/>
          <a:p>
            <a:pPr marL="0" indent="0">
              <a:buNone/>
            </a:pPr>
            <a:r>
              <a:rPr lang="en-US" sz="1150" i="1" dirty="0">
                <a:solidFill>
                  <a:srgbClr val="5B6B63"/>
                </a:solidFill>
                <a:latin typeface="Calibri" pitchFamily="34" charset="0"/>
                <a:ea typeface="Calibri" pitchFamily="34" charset="-122"/>
                <a:cs typeface="Calibri" pitchFamily="34" charset="-120"/>
              </a:rPr>
              <a:t>The full technical toolkit behind the five-page report.</a:t>
            </a:r>
            <a:endParaRPr lang="en-US" sz="1150" dirty="0"/>
          </a:p>
        </p:txBody>
      </p:sp>
      <p:sp>
        <p:nvSpPr>
          <p:cNvPr id="5" name="Shape 3"/>
          <p:cNvSpPr/>
          <p:nvPr/>
        </p:nvSpPr>
        <p:spPr>
          <a:xfrm>
            <a:off x="548640" y="169164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6" name="Text 4"/>
          <p:cNvSpPr/>
          <p:nvPr/>
        </p:nvSpPr>
        <p:spPr>
          <a:xfrm>
            <a:off x="749808" y="1819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1417320" y="1819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Power Query</a:t>
            </a:r>
            <a:endParaRPr lang="en-US" sz="1400" dirty="0"/>
          </a:p>
        </p:txBody>
      </p:sp>
      <p:sp>
        <p:nvSpPr>
          <p:cNvPr id="8" name="Text 6"/>
          <p:cNvSpPr/>
          <p:nvPr/>
        </p:nvSpPr>
        <p:spPr>
          <a:xfrm>
            <a:off x="749808" y="225856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Raw-to-clean transformation.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Parsed text ranges (“Rp 345 - 419 Juta”) into numeric Min/Max/Avg columns; split Vehicle Name into Brand.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Moved all text-cleaning logic upstream, before a single line of DAX was written.</a:t>
            </a:r>
            <a:endParaRPr lang="en-US" sz="900" dirty="0"/>
          </a:p>
        </p:txBody>
      </p:sp>
      <p:sp>
        <p:nvSpPr>
          <p:cNvPr id="9" name="Shape 7"/>
          <p:cNvSpPr/>
          <p:nvPr/>
        </p:nvSpPr>
        <p:spPr>
          <a:xfrm>
            <a:off x="6199632" y="169164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0" name="Text 8"/>
          <p:cNvSpPr/>
          <p:nvPr/>
        </p:nvSpPr>
        <p:spPr>
          <a:xfrm>
            <a:off x="6400800" y="1819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7068312" y="1819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What-if Parameters &amp; Bookmarks</a:t>
            </a:r>
            <a:endParaRPr lang="en-US" sz="1400" dirty="0"/>
          </a:p>
        </p:txBody>
      </p:sp>
      <p:sp>
        <p:nvSpPr>
          <p:cNvPr id="12" name="Text 10"/>
          <p:cNvSpPr/>
          <p:nvPr/>
        </p:nvSpPr>
        <p:spPr>
          <a:xfrm>
            <a:off x="6400800" y="225856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Simulation and state control.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‘Budget Simulation (IDR Juta)’ numeric parameter; Bookmarks capture sidebar open/closed and reset-filter states.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Adds interactivity that Power BI does not provide out of the box.</a:t>
            </a:r>
            <a:endParaRPr lang="en-US" sz="900" dirty="0"/>
          </a:p>
        </p:txBody>
      </p:sp>
      <p:sp>
        <p:nvSpPr>
          <p:cNvPr id="13" name="Shape 11"/>
          <p:cNvSpPr/>
          <p:nvPr/>
        </p:nvSpPr>
        <p:spPr>
          <a:xfrm>
            <a:off x="548640" y="365760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4" name="Text 12"/>
          <p:cNvSpPr/>
          <p:nvPr/>
        </p:nvSpPr>
        <p:spPr>
          <a:xfrm>
            <a:off x="749808" y="378561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03</a:t>
            </a:r>
            <a:endParaRPr lang="en-US" sz="2200" dirty="0"/>
          </a:p>
        </p:txBody>
      </p:sp>
      <p:sp>
        <p:nvSpPr>
          <p:cNvPr id="15" name="Text 13"/>
          <p:cNvSpPr/>
          <p:nvPr/>
        </p:nvSpPr>
        <p:spPr>
          <a:xfrm>
            <a:off x="1417320" y="378561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Conditional Formatting &amp; Visibility</a:t>
            </a:r>
            <a:endParaRPr lang="en-US" sz="1400" dirty="0"/>
          </a:p>
        </p:txBody>
      </p:sp>
      <p:sp>
        <p:nvSpPr>
          <p:cNvPr id="16" name="Text 14"/>
          <p:cNvSpPr/>
          <p:nvPr/>
        </p:nvSpPr>
        <p:spPr>
          <a:xfrm>
            <a:off x="749808" y="422452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Data bars and rule-based visibility.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Data bars on Value Score in the comparison table; the price-warning card’s visibility is bound to ‘Is Price Flagged’ via conditional formatting.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Surfaces data-quality context automatically — only when it is actually relevant.</a:t>
            </a:r>
            <a:endParaRPr lang="en-US" sz="900" dirty="0"/>
          </a:p>
        </p:txBody>
      </p:sp>
      <p:sp>
        <p:nvSpPr>
          <p:cNvPr id="17" name="Shape 15"/>
          <p:cNvSpPr/>
          <p:nvPr/>
        </p:nvSpPr>
        <p:spPr>
          <a:xfrm>
            <a:off x="6199632" y="365760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8" name="Text 16"/>
          <p:cNvSpPr/>
          <p:nvPr/>
        </p:nvSpPr>
        <p:spPr>
          <a:xfrm>
            <a:off x="6400800" y="378561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04</a:t>
            </a:r>
            <a:endParaRPr lang="en-US" sz="2200" dirty="0"/>
          </a:p>
        </p:txBody>
      </p:sp>
      <p:sp>
        <p:nvSpPr>
          <p:cNvPr id="19" name="Text 17"/>
          <p:cNvSpPr/>
          <p:nvPr/>
        </p:nvSpPr>
        <p:spPr>
          <a:xfrm>
            <a:off x="7068312" y="378561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Custom Theme &amp; Icons</a:t>
            </a:r>
            <a:endParaRPr lang="en-US" sz="1400" dirty="0"/>
          </a:p>
        </p:txBody>
      </p:sp>
      <p:sp>
        <p:nvSpPr>
          <p:cNvPr id="20" name="Text 18"/>
          <p:cNvSpPr/>
          <p:nvPr/>
        </p:nvSpPr>
        <p:spPr>
          <a:xfrm>
            <a:off x="6400800" y="422452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A brand-consistent visual system.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‘EV Indonesia Modern Green’ JSON theme (dark green / teal / blue / yellow); custom PNG icons reused across KPI cards and this deck.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One visual language across every dashboard page — and now across this presentation too.</a:t>
            </a:r>
            <a:endParaRPr lang="en-US" sz="900" dirty="0"/>
          </a:p>
        </p:txBody>
      </p:sp>
      <p:sp>
        <p:nvSpPr>
          <p:cNvPr id="21" name="Shape 19"/>
          <p:cNvSpPr/>
          <p:nvPr/>
        </p:nvSpPr>
        <p:spPr>
          <a:xfrm>
            <a:off x="548640" y="5623560"/>
            <a:ext cx="11091672" cy="868680"/>
          </a:xfrm>
          <a:prstGeom prst="roundRect">
            <a:avLst>
              <a:gd name="adj" fmla="val 9474"/>
            </a:avLst>
          </a:prstGeom>
          <a:solidFill>
            <a:srgbClr val="0E3B2E"/>
          </a:solidFill>
          <a:ln/>
        </p:spPr>
        <p:txBody>
          <a:bodyPr/>
          <a:lstStyle/>
          <a:p>
            <a:endParaRPr lang="en-ID"/>
          </a:p>
        </p:txBody>
      </p:sp>
      <p:sp>
        <p:nvSpPr>
          <p:cNvPr id="22" name="Text 20"/>
          <p:cNvSpPr/>
          <p:nvPr/>
        </p:nvSpPr>
        <p:spPr>
          <a:xfrm>
            <a:off x="868680" y="5623560"/>
            <a:ext cx="10424160" cy="868680"/>
          </a:xfrm>
          <a:prstGeom prst="rect">
            <a:avLst/>
          </a:prstGeom>
          <a:noFill/>
          <a:ln/>
        </p:spPr>
        <p:txBody>
          <a:bodyPr wrap="square" rtlCol="0" anchor="ctr"/>
          <a:lstStyle/>
          <a:p>
            <a:pPr marL="0" indent="0">
              <a:lnSpc>
                <a:spcPct val="120000"/>
              </a:lnSpc>
              <a:buNone/>
            </a:pPr>
            <a:r>
              <a:rPr lang="en-US" sz="1200" b="1" dirty="0">
                <a:solidFill>
                  <a:srgbClr val="6FAE8B"/>
                </a:solidFill>
                <a:latin typeface="Calibri" pitchFamily="34" charset="0"/>
                <a:ea typeface="Calibri" pitchFamily="34" charset="-122"/>
                <a:cs typeface="Calibri" pitchFamily="34" charset="-120"/>
              </a:rPr>
              <a:t>PLATFORM PRINCIPLE   </a:t>
            </a:r>
            <a:r>
              <a:rPr lang="en-US" sz="1300" dirty="0">
                <a:solidFill>
                  <a:srgbClr val="FFFFFF"/>
                </a:solidFill>
                <a:latin typeface="Calibri" pitchFamily="34" charset="0"/>
                <a:ea typeface="Calibri" pitchFamily="34" charset="-122"/>
                <a:cs typeface="Calibri" pitchFamily="34" charset="-120"/>
              </a:rPr>
              <a:t>No feature here is decorative — every button, tooltip, and parameter exists to answer one of the four analytical questions from Slide 3.</a:t>
            </a:r>
            <a:endParaRPr lang="en-US" sz="1200" dirty="0"/>
          </a:p>
        </p:txBody>
      </p:sp>
      <p:sp>
        <p:nvSpPr>
          <p:cNvPr id="23" name="Text 21"/>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Power BI Features Used</a:t>
            </a:r>
            <a:endParaRPr lang="en-US" sz="900" dirty="0"/>
          </a:p>
        </p:txBody>
      </p:sp>
      <p:sp>
        <p:nvSpPr>
          <p:cNvPr id="24" name="Text 22"/>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394</TotalTime>
  <Words>3692</Words>
  <Application>Microsoft Office PowerPoint</Application>
  <PresentationFormat>Widescreen</PresentationFormat>
  <Paragraphs>280</Paragraphs>
  <Slides>15</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brian naufal</cp:lastModifiedBy>
  <cp:revision>5</cp:revision>
  <dcterms:created xsi:type="dcterms:W3CDTF">2026-09-05T07:11:45Z</dcterms:created>
  <dcterms:modified xsi:type="dcterms:W3CDTF">2026-09-06T09:56:11Z</dcterms:modified>
</cp:coreProperties>
</file>